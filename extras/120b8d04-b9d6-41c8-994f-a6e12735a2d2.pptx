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65" r:id="rId2"/>
    <p:sldId id="258" r:id="rId3"/>
    <p:sldId id="259" r:id="rId4"/>
    <p:sldId id="260" r:id="rId5"/>
    <p:sldId id="262" r:id="rId6"/>
    <p:sldId id="263" r:id="rId7"/>
    <p:sldId id="264" r:id="rId8"/>
    <p:sldId id="266" r:id="rId9"/>
    <p:sldId id="267" r:id="rId10"/>
    <p:sldId id="268" r:id="rId11"/>
    <p:sldId id="269" r:id="rId12"/>
    <p:sldId id="270" r:id="rId13"/>
    <p:sldId id="271" r:id="rId14"/>
    <p:sldId id="272" r:id="rId15"/>
    <p:sldId id="27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25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4B7DC7-1CFF-4A18-B466-36B599CA0C7A}" type="datetimeFigureOut">
              <a:rPr lang="en-IN" smtClean="0"/>
              <a:t>06-01-2026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8574B8-A45A-422C-B8A6-B9F686F619AB}" type="slidenum">
              <a:rPr lang="en-IN" smtClean="0"/>
              <a:t>‹#›</a:t>
            </a:fld>
            <a:endParaRPr lang="en-IN"/>
          </a:p>
        </p:txBody>
      </p:sp>
    </p:spTree>
    <p:extLst>
      <p:ext uri="{BB962C8B-B14F-4D97-AF65-F5344CB8AC3E}">
        <p14:creationId xmlns:p14="http://schemas.microsoft.com/office/powerpoint/2010/main" val="18576646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D8574B8-A45A-422C-B8A6-B9F686F619AB}" type="slidenum">
              <a:rPr lang="en-IN" smtClean="0"/>
              <a:t>9</a:t>
            </a:fld>
            <a:endParaRPr lang="en-IN"/>
          </a:p>
        </p:txBody>
      </p:sp>
    </p:spTree>
    <p:extLst>
      <p:ext uri="{BB962C8B-B14F-4D97-AF65-F5344CB8AC3E}">
        <p14:creationId xmlns:p14="http://schemas.microsoft.com/office/powerpoint/2010/main" val="28050271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D8574B8-A45A-422C-B8A6-B9F686F619AB}" type="slidenum">
              <a:rPr lang="en-IN" smtClean="0"/>
              <a:t>10</a:t>
            </a:fld>
            <a:endParaRPr lang="en-IN"/>
          </a:p>
        </p:txBody>
      </p:sp>
    </p:spTree>
    <p:extLst>
      <p:ext uri="{BB962C8B-B14F-4D97-AF65-F5344CB8AC3E}">
        <p14:creationId xmlns:p14="http://schemas.microsoft.com/office/powerpoint/2010/main" val="10525052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235D87D-6153-4445-B551-D8E4159844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F1AA1C2A-AC1F-435B-A38C-575B45D9DE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1C269D1D-57EF-449A-A3B1-2261149D6E3A}"/>
              </a:ext>
            </a:extLst>
          </p:cNvPr>
          <p:cNvSpPr>
            <a:spLocks noGrp="1"/>
          </p:cNvSpPr>
          <p:nvPr>
            <p:ph type="dt" sz="half" idx="10"/>
          </p:nvPr>
        </p:nvSpPr>
        <p:spPr/>
        <p:txBody>
          <a:bodyPr/>
          <a:lstStyle/>
          <a:p>
            <a:fld id="{5435B5CD-40C9-40AC-BE9F-6478CAB77280}" type="datetime1">
              <a:rPr lang="en-IN" smtClean="0"/>
              <a:t>06-01-2026</a:t>
            </a:fld>
            <a:endParaRPr lang="en-IN"/>
          </a:p>
        </p:txBody>
      </p:sp>
      <p:sp>
        <p:nvSpPr>
          <p:cNvPr id="5" name="Footer Placeholder 4">
            <a:extLst>
              <a:ext uri="{FF2B5EF4-FFF2-40B4-BE49-F238E27FC236}">
                <a16:creationId xmlns:a16="http://schemas.microsoft.com/office/drawing/2014/main" xmlns="" id="{5FAE6DB2-2DB8-41E5-BAA6-23695BF9F000}"/>
              </a:ext>
            </a:extLst>
          </p:cNvPr>
          <p:cNvSpPr>
            <a:spLocks noGrp="1"/>
          </p:cNvSpPr>
          <p:nvPr>
            <p:ph type="ftr" sz="quarter" idx="11"/>
          </p:nvPr>
        </p:nvSpPr>
        <p:spPr/>
        <p:txBody>
          <a:bodyPr/>
          <a:lstStyle/>
          <a:p>
            <a:r>
              <a:rPr lang="en-US"/>
              <a:t>Gayatri Vidya Parishad College for Degree and PG Courses(A)</a:t>
            </a:r>
            <a:endParaRPr lang="en-IN"/>
          </a:p>
        </p:txBody>
      </p:sp>
      <p:sp>
        <p:nvSpPr>
          <p:cNvPr id="6" name="Slide Number Placeholder 5">
            <a:extLst>
              <a:ext uri="{FF2B5EF4-FFF2-40B4-BE49-F238E27FC236}">
                <a16:creationId xmlns:a16="http://schemas.microsoft.com/office/drawing/2014/main" xmlns="" id="{25D16AE2-66DA-4779-B2A6-77DE60C5700F}"/>
              </a:ext>
            </a:extLst>
          </p:cNvPr>
          <p:cNvSpPr>
            <a:spLocks noGrp="1"/>
          </p:cNvSpPr>
          <p:nvPr>
            <p:ph type="sldNum" sz="quarter" idx="12"/>
          </p:nvPr>
        </p:nvSpPr>
        <p:spPr/>
        <p:txBody>
          <a:bodyPr/>
          <a:lstStyle/>
          <a:p>
            <a:fld id="{003D4B34-D32C-49C1-833D-E750DF4FE443}" type="slidenum">
              <a:rPr lang="en-IN" smtClean="0"/>
              <a:t>‹#›</a:t>
            </a:fld>
            <a:endParaRPr lang="en-IN"/>
          </a:p>
        </p:txBody>
      </p:sp>
    </p:spTree>
    <p:extLst>
      <p:ext uri="{BB962C8B-B14F-4D97-AF65-F5344CB8AC3E}">
        <p14:creationId xmlns:p14="http://schemas.microsoft.com/office/powerpoint/2010/main" val="656837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B84A08A-AF89-49C1-AFD1-E6CBC329E90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21C72EA2-3185-41D2-82EC-FAE68684C9B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089AD5A3-55FE-4EEE-AAA3-58BB0402CD79}"/>
              </a:ext>
            </a:extLst>
          </p:cNvPr>
          <p:cNvSpPr>
            <a:spLocks noGrp="1"/>
          </p:cNvSpPr>
          <p:nvPr>
            <p:ph type="dt" sz="half" idx="10"/>
          </p:nvPr>
        </p:nvSpPr>
        <p:spPr/>
        <p:txBody>
          <a:bodyPr/>
          <a:lstStyle/>
          <a:p>
            <a:fld id="{04B1C468-E36C-4F69-B724-C875F5BCFF3A}" type="datetime1">
              <a:rPr lang="en-IN" smtClean="0"/>
              <a:t>06-01-2026</a:t>
            </a:fld>
            <a:endParaRPr lang="en-IN"/>
          </a:p>
        </p:txBody>
      </p:sp>
      <p:sp>
        <p:nvSpPr>
          <p:cNvPr id="5" name="Footer Placeholder 4">
            <a:extLst>
              <a:ext uri="{FF2B5EF4-FFF2-40B4-BE49-F238E27FC236}">
                <a16:creationId xmlns:a16="http://schemas.microsoft.com/office/drawing/2014/main" xmlns="" id="{00DAAD39-EBB3-47FE-A0CA-F5E4CAD84894}"/>
              </a:ext>
            </a:extLst>
          </p:cNvPr>
          <p:cNvSpPr>
            <a:spLocks noGrp="1"/>
          </p:cNvSpPr>
          <p:nvPr>
            <p:ph type="ftr" sz="quarter" idx="11"/>
          </p:nvPr>
        </p:nvSpPr>
        <p:spPr/>
        <p:txBody>
          <a:bodyPr/>
          <a:lstStyle/>
          <a:p>
            <a:r>
              <a:rPr lang="en-US"/>
              <a:t>Gayatri Vidya Parishad College for Degree and PG Courses(A)</a:t>
            </a:r>
            <a:endParaRPr lang="en-IN"/>
          </a:p>
        </p:txBody>
      </p:sp>
      <p:sp>
        <p:nvSpPr>
          <p:cNvPr id="6" name="Slide Number Placeholder 5">
            <a:extLst>
              <a:ext uri="{FF2B5EF4-FFF2-40B4-BE49-F238E27FC236}">
                <a16:creationId xmlns:a16="http://schemas.microsoft.com/office/drawing/2014/main" xmlns="" id="{FBE2FD92-D068-455A-8C52-912BDFFFC0BD}"/>
              </a:ext>
            </a:extLst>
          </p:cNvPr>
          <p:cNvSpPr>
            <a:spLocks noGrp="1"/>
          </p:cNvSpPr>
          <p:nvPr>
            <p:ph type="sldNum" sz="quarter" idx="12"/>
          </p:nvPr>
        </p:nvSpPr>
        <p:spPr/>
        <p:txBody>
          <a:bodyPr/>
          <a:lstStyle/>
          <a:p>
            <a:fld id="{003D4B34-D32C-49C1-833D-E750DF4FE443}" type="slidenum">
              <a:rPr lang="en-IN" smtClean="0"/>
              <a:t>‹#›</a:t>
            </a:fld>
            <a:endParaRPr lang="en-IN"/>
          </a:p>
        </p:txBody>
      </p:sp>
    </p:spTree>
    <p:extLst>
      <p:ext uri="{BB962C8B-B14F-4D97-AF65-F5344CB8AC3E}">
        <p14:creationId xmlns:p14="http://schemas.microsoft.com/office/powerpoint/2010/main" val="3806922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D2D851F-6E90-441D-B6AB-2C35591473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CCEADE2D-8600-4781-BBD0-106D707BE1A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xmlns="" id="{DAC6DA5D-0F2B-43B4-9776-07399ED35F01}"/>
              </a:ext>
            </a:extLst>
          </p:cNvPr>
          <p:cNvSpPr>
            <a:spLocks noGrp="1"/>
          </p:cNvSpPr>
          <p:nvPr>
            <p:ph type="dt" sz="half" idx="10"/>
          </p:nvPr>
        </p:nvSpPr>
        <p:spPr/>
        <p:txBody>
          <a:bodyPr/>
          <a:lstStyle/>
          <a:p>
            <a:fld id="{1F7DE304-AEB2-483A-9EE0-B53FC3B05C6C}" type="datetime1">
              <a:rPr lang="en-IN" smtClean="0"/>
              <a:t>06-01-2026</a:t>
            </a:fld>
            <a:endParaRPr lang="en-IN"/>
          </a:p>
        </p:txBody>
      </p:sp>
      <p:sp>
        <p:nvSpPr>
          <p:cNvPr id="5" name="Footer Placeholder 4">
            <a:extLst>
              <a:ext uri="{FF2B5EF4-FFF2-40B4-BE49-F238E27FC236}">
                <a16:creationId xmlns:a16="http://schemas.microsoft.com/office/drawing/2014/main" xmlns="" id="{59FA2025-0D04-41FC-BE2D-F458BADDC46C}"/>
              </a:ext>
            </a:extLst>
          </p:cNvPr>
          <p:cNvSpPr>
            <a:spLocks noGrp="1"/>
          </p:cNvSpPr>
          <p:nvPr>
            <p:ph type="ftr" sz="quarter" idx="11"/>
          </p:nvPr>
        </p:nvSpPr>
        <p:spPr/>
        <p:txBody>
          <a:bodyPr/>
          <a:lstStyle/>
          <a:p>
            <a:r>
              <a:rPr lang="en-US"/>
              <a:t>Gayatri Vidya Parishad College for Degree and PG Courses(A)</a:t>
            </a:r>
            <a:endParaRPr lang="en-IN"/>
          </a:p>
        </p:txBody>
      </p:sp>
      <p:sp>
        <p:nvSpPr>
          <p:cNvPr id="6" name="Slide Number Placeholder 5">
            <a:extLst>
              <a:ext uri="{FF2B5EF4-FFF2-40B4-BE49-F238E27FC236}">
                <a16:creationId xmlns:a16="http://schemas.microsoft.com/office/drawing/2014/main" xmlns="" id="{EA33C815-E776-4FA7-90DC-CF03DEC92428}"/>
              </a:ext>
            </a:extLst>
          </p:cNvPr>
          <p:cNvSpPr>
            <a:spLocks noGrp="1"/>
          </p:cNvSpPr>
          <p:nvPr>
            <p:ph type="sldNum" sz="quarter" idx="12"/>
          </p:nvPr>
        </p:nvSpPr>
        <p:spPr/>
        <p:txBody>
          <a:bodyPr/>
          <a:lstStyle/>
          <a:p>
            <a:fld id="{003D4B34-D32C-49C1-833D-E750DF4FE443}" type="slidenum">
              <a:rPr lang="en-IN" smtClean="0"/>
              <a:t>‹#›</a:t>
            </a:fld>
            <a:endParaRPr lang="en-IN"/>
          </a:p>
        </p:txBody>
      </p:sp>
    </p:spTree>
    <p:extLst>
      <p:ext uri="{BB962C8B-B14F-4D97-AF65-F5344CB8AC3E}">
        <p14:creationId xmlns:p14="http://schemas.microsoft.com/office/powerpoint/2010/main" val="14316383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C9D838E-01B8-421C-B814-CD60CED5C18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75D661AB-E8FF-4BAA-8AD6-E758E4D1773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01213BF6-E75E-4FE9-9488-3DD124FB3BA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17D818B8-603D-4084-99F3-EEBE7FB71477}"/>
              </a:ext>
            </a:extLst>
          </p:cNvPr>
          <p:cNvSpPr>
            <a:spLocks noGrp="1"/>
          </p:cNvSpPr>
          <p:nvPr>
            <p:ph type="dt" sz="half" idx="10"/>
          </p:nvPr>
        </p:nvSpPr>
        <p:spPr/>
        <p:txBody>
          <a:bodyPr/>
          <a:lstStyle/>
          <a:p>
            <a:fld id="{742CFA2F-2A52-48BC-AFD7-B3DEE9CC79C8}" type="datetime1">
              <a:rPr lang="en-IN" smtClean="0"/>
              <a:t>06-01-2026</a:t>
            </a:fld>
            <a:endParaRPr lang="en-IN"/>
          </a:p>
        </p:txBody>
      </p:sp>
      <p:sp>
        <p:nvSpPr>
          <p:cNvPr id="6" name="Footer Placeholder 5">
            <a:extLst>
              <a:ext uri="{FF2B5EF4-FFF2-40B4-BE49-F238E27FC236}">
                <a16:creationId xmlns:a16="http://schemas.microsoft.com/office/drawing/2014/main" xmlns="" id="{BC62382B-903E-48D4-B383-BF4C4A101455}"/>
              </a:ext>
            </a:extLst>
          </p:cNvPr>
          <p:cNvSpPr>
            <a:spLocks noGrp="1"/>
          </p:cNvSpPr>
          <p:nvPr>
            <p:ph type="ftr" sz="quarter" idx="11"/>
          </p:nvPr>
        </p:nvSpPr>
        <p:spPr/>
        <p:txBody>
          <a:bodyPr/>
          <a:lstStyle/>
          <a:p>
            <a:r>
              <a:rPr lang="en-US"/>
              <a:t>Gayatri Vidya Parishad College for Degree and PG Courses(A)</a:t>
            </a:r>
            <a:endParaRPr lang="en-IN"/>
          </a:p>
        </p:txBody>
      </p:sp>
      <p:sp>
        <p:nvSpPr>
          <p:cNvPr id="7" name="Slide Number Placeholder 6">
            <a:extLst>
              <a:ext uri="{FF2B5EF4-FFF2-40B4-BE49-F238E27FC236}">
                <a16:creationId xmlns:a16="http://schemas.microsoft.com/office/drawing/2014/main" xmlns="" id="{73CFF297-A6FB-42D1-8C60-B280AC2B9D29}"/>
              </a:ext>
            </a:extLst>
          </p:cNvPr>
          <p:cNvSpPr>
            <a:spLocks noGrp="1"/>
          </p:cNvSpPr>
          <p:nvPr>
            <p:ph type="sldNum" sz="quarter" idx="12"/>
          </p:nvPr>
        </p:nvSpPr>
        <p:spPr/>
        <p:txBody>
          <a:bodyPr/>
          <a:lstStyle/>
          <a:p>
            <a:fld id="{003D4B34-D32C-49C1-833D-E750DF4FE443}" type="slidenum">
              <a:rPr lang="en-IN" smtClean="0"/>
              <a:t>‹#›</a:t>
            </a:fld>
            <a:endParaRPr lang="en-IN"/>
          </a:p>
        </p:txBody>
      </p:sp>
    </p:spTree>
    <p:extLst>
      <p:ext uri="{BB962C8B-B14F-4D97-AF65-F5344CB8AC3E}">
        <p14:creationId xmlns:p14="http://schemas.microsoft.com/office/powerpoint/2010/main" val="1669382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627CEC4-ADD6-4DF5-9C80-0341B6270C9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987B8EB0-C2AE-4871-AA48-EBA12EAC07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xmlns="" id="{3C408981-E0F2-4323-9F41-DC2851A13A4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FA0DEACB-C028-4BE1-B41B-20BE3DEF57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xmlns="" id="{684C2F80-A360-464A-885A-53CED3C561E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EAB5BD2A-83B4-41BB-9F09-E7E5696FC6BE}"/>
              </a:ext>
            </a:extLst>
          </p:cNvPr>
          <p:cNvSpPr>
            <a:spLocks noGrp="1"/>
          </p:cNvSpPr>
          <p:nvPr>
            <p:ph type="dt" sz="half" idx="10"/>
          </p:nvPr>
        </p:nvSpPr>
        <p:spPr/>
        <p:txBody>
          <a:bodyPr/>
          <a:lstStyle/>
          <a:p>
            <a:fld id="{9D9ADFC4-F368-4270-AE8D-4A66D5625183}" type="datetime1">
              <a:rPr lang="en-IN" smtClean="0"/>
              <a:t>06-01-2026</a:t>
            </a:fld>
            <a:endParaRPr lang="en-IN"/>
          </a:p>
        </p:txBody>
      </p:sp>
      <p:sp>
        <p:nvSpPr>
          <p:cNvPr id="8" name="Footer Placeholder 7">
            <a:extLst>
              <a:ext uri="{FF2B5EF4-FFF2-40B4-BE49-F238E27FC236}">
                <a16:creationId xmlns:a16="http://schemas.microsoft.com/office/drawing/2014/main" xmlns="" id="{40E71937-FE89-45B1-8B2D-8BBC46209F6C}"/>
              </a:ext>
            </a:extLst>
          </p:cNvPr>
          <p:cNvSpPr>
            <a:spLocks noGrp="1"/>
          </p:cNvSpPr>
          <p:nvPr>
            <p:ph type="ftr" sz="quarter" idx="11"/>
          </p:nvPr>
        </p:nvSpPr>
        <p:spPr/>
        <p:txBody>
          <a:bodyPr/>
          <a:lstStyle/>
          <a:p>
            <a:r>
              <a:rPr lang="en-US"/>
              <a:t>Gayatri Vidya Parishad College for Degree and PG Courses(A)</a:t>
            </a:r>
            <a:endParaRPr lang="en-IN"/>
          </a:p>
        </p:txBody>
      </p:sp>
      <p:sp>
        <p:nvSpPr>
          <p:cNvPr id="9" name="Slide Number Placeholder 8">
            <a:extLst>
              <a:ext uri="{FF2B5EF4-FFF2-40B4-BE49-F238E27FC236}">
                <a16:creationId xmlns:a16="http://schemas.microsoft.com/office/drawing/2014/main" xmlns="" id="{81F2D763-A3D4-455E-95FA-FB61C0510E3F}"/>
              </a:ext>
            </a:extLst>
          </p:cNvPr>
          <p:cNvSpPr>
            <a:spLocks noGrp="1"/>
          </p:cNvSpPr>
          <p:nvPr>
            <p:ph type="sldNum" sz="quarter" idx="12"/>
          </p:nvPr>
        </p:nvSpPr>
        <p:spPr/>
        <p:txBody>
          <a:bodyPr/>
          <a:lstStyle/>
          <a:p>
            <a:fld id="{003D4B34-D32C-49C1-833D-E750DF4FE443}" type="slidenum">
              <a:rPr lang="en-IN" smtClean="0"/>
              <a:t>‹#›</a:t>
            </a:fld>
            <a:endParaRPr lang="en-IN"/>
          </a:p>
        </p:txBody>
      </p:sp>
    </p:spTree>
    <p:extLst>
      <p:ext uri="{BB962C8B-B14F-4D97-AF65-F5344CB8AC3E}">
        <p14:creationId xmlns:p14="http://schemas.microsoft.com/office/powerpoint/2010/main" val="3980125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C34D017-2B30-448D-8C24-D95A1864D1C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581758F0-8222-4BB4-8429-191E5F9EAF9A}"/>
              </a:ext>
            </a:extLst>
          </p:cNvPr>
          <p:cNvSpPr>
            <a:spLocks noGrp="1"/>
          </p:cNvSpPr>
          <p:nvPr>
            <p:ph type="dt" sz="half" idx="10"/>
          </p:nvPr>
        </p:nvSpPr>
        <p:spPr/>
        <p:txBody>
          <a:bodyPr/>
          <a:lstStyle/>
          <a:p>
            <a:fld id="{8CFB938E-F745-4FD1-B8F5-4338008502DE}" type="datetime1">
              <a:rPr lang="en-IN" smtClean="0"/>
              <a:t>06-01-2026</a:t>
            </a:fld>
            <a:endParaRPr lang="en-IN"/>
          </a:p>
        </p:txBody>
      </p:sp>
      <p:sp>
        <p:nvSpPr>
          <p:cNvPr id="4" name="Footer Placeholder 3">
            <a:extLst>
              <a:ext uri="{FF2B5EF4-FFF2-40B4-BE49-F238E27FC236}">
                <a16:creationId xmlns:a16="http://schemas.microsoft.com/office/drawing/2014/main" xmlns="" id="{82F77FEC-1B0C-424B-B825-F28E96FADE85}"/>
              </a:ext>
            </a:extLst>
          </p:cNvPr>
          <p:cNvSpPr>
            <a:spLocks noGrp="1"/>
          </p:cNvSpPr>
          <p:nvPr>
            <p:ph type="ftr" sz="quarter" idx="11"/>
          </p:nvPr>
        </p:nvSpPr>
        <p:spPr/>
        <p:txBody>
          <a:bodyPr/>
          <a:lstStyle/>
          <a:p>
            <a:r>
              <a:rPr lang="en-US"/>
              <a:t>Gayatri Vidya Parishad College for Degree and PG Courses(A)</a:t>
            </a:r>
            <a:endParaRPr lang="en-IN"/>
          </a:p>
        </p:txBody>
      </p:sp>
      <p:sp>
        <p:nvSpPr>
          <p:cNvPr id="5" name="Slide Number Placeholder 4">
            <a:extLst>
              <a:ext uri="{FF2B5EF4-FFF2-40B4-BE49-F238E27FC236}">
                <a16:creationId xmlns:a16="http://schemas.microsoft.com/office/drawing/2014/main" xmlns="" id="{F98E501D-0CD1-445E-AFD9-DF70432E5A4D}"/>
              </a:ext>
            </a:extLst>
          </p:cNvPr>
          <p:cNvSpPr>
            <a:spLocks noGrp="1"/>
          </p:cNvSpPr>
          <p:nvPr>
            <p:ph type="sldNum" sz="quarter" idx="12"/>
          </p:nvPr>
        </p:nvSpPr>
        <p:spPr/>
        <p:txBody>
          <a:bodyPr/>
          <a:lstStyle/>
          <a:p>
            <a:fld id="{003D4B34-D32C-49C1-833D-E750DF4FE443}" type="slidenum">
              <a:rPr lang="en-IN" smtClean="0"/>
              <a:t>‹#›</a:t>
            </a:fld>
            <a:endParaRPr lang="en-IN"/>
          </a:p>
        </p:txBody>
      </p:sp>
    </p:spTree>
    <p:extLst>
      <p:ext uri="{BB962C8B-B14F-4D97-AF65-F5344CB8AC3E}">
        <p14:creationId xmlns:p14="http://schemas.microsoft.com/office/powerpoint/2010/main" val="20752538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B07D7C25-6329-4899-B701-8E3D4E41EC37}"/>
              </a:ext>
            </a:extLst>
          </p:cNvPr>
          <p:cNvSpPr>
            <a:spLocks noGrp="1"/>
          </p:cNvSpPr>
          <p:nvPr>
            <p:ph type="dt" sz="half" idx="10"/>
          </p:nvPr>
        </p:nvSpPr>
        <p:spPr/>
        <p:txBody>
          <a:bodyPr/>
          <a:lstStyle/>
          <a:p>
            <a:fld id="{694E49BC-28ED-4413-97CE-6404B739D7C6}" type="datetime1">
              <a:rPr lang="en-IN" smtClean="0"/>
              <a:t>06-01-2026</a:t>
            </a:fld>
            <a:endParaRPr lang="en-IN"/>
          </a:p>
        </p:txBody>
      </p:sp>
      <p:sp>
        <p:nvSpPr>
          <p:cNvPr id="3" name="Footer Placeholder 2">
            <a:extLst>
              <a:ext uri="{FF2B5EF4-FFF2-40B4-BE49-F238E27FC236}">
                <a16:creationId xmlns:a16="http://schemas.microsoft.com/office/drawing/2014/main" xmlns="" id="{7E139D1B-F17F-4DCD-A0A3-973392722C98}"/>
              </a:ext>
            </a:extLst>
          </p:cNvPr>
          <p:cNvSpPr>
            <a:spLocks noGrp="1"/>
          </p:cNvSpPr>
          <p:nvPr>
            <p:ph type="ftr" sz="quarter" idx="11"/>
          </p:nvPr>
        </p:nvSpPr>
        <p:spPr/>
        <p:txBody>
          <a:bodyPr/>
          <a:lstStyle/>
          <a:p>
            <a:r>
              <a:rPr lang="en-US"/>
              <a:t>Gayatri Vidya Parishad College for Degree and PG Courses(A)</a:t>
            </a:r>
            <a:endParaRPr lang="en-IN"/>
          </a:p>
        </p:txBody>
      </p:sp>
      <p:sp>
        <p:nvSpPr>
          <p:cNvPr id="4" name="Slide Number Placeholder 3">
            <a:extLst>
              <a:ext uri="{FF2B5EF4-FFF2-40B4-BE49-F238E27FC236}">
                <a16:creationId xmlns:a16="http://schemas.microsoft.com/office/drawing/2014/main" xmlns="" id="{CA5CAC07-E815-41BD-B83F-81047ED9C9C0}"/>
              </a:ext>
            </a:extLst>
          </p:cNvPr>
          <p:cNvSpPr>
            <a:spLocks noGrp="1"/>
          </p:cNvSpPr>
          <p:nvPr>
            <p:ph type="sldNum" sz="quarter" idx="12"/>
          </p:nvPr>
        </p:nvSpPr>
        <p:spPr/>
        <p:txBody>
          <a:bodyPr/>
          <a:lstStyle/>
          <a:p>
            <a:fld id="{003D4B34-D32C-49C1-833D-E750DF4FE443}" type="slidenum">
              <a:rPr lang="en-IN" smtClean="0"/>
              <a:t>‹#›</a:t>
            </a:fld>
            <a:endParaRPr lang="en-IN"/>
          </a:p>
        </p:txBody>
      </p:sp>
    </p:spTree>
    <p:extLst>
      <p:ext uri="{BB962C8B-B14F-4D97-AF65-F5344CB8AC3E}">
        <p14:creationId xmlns:p14="http://schemas.microsoft.com/office/powerpoint/2010/main" val="1505194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67F518-DECB-4BC3-A939-1BD6823AA5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32EE99AB-9609-409E-9FCE-3983A0B99C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1D6DF8D6-0B0B-4E49-916F-A9264C2E3E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xmlns="" id="{29D856A8-6DC7-4080-81E0-48A8D3D78A25}"/>
              </a:ext>
            </a:extLst>
          </p:cNvPr>
          <p:cNvSpPr>
            <a:spLocks noGrp="1"/>
          </p:cNvSpPr>
          <p:nvPr>
            <p:ph type="dt" sz="half" idx="10"/>
          </p:nvPr>
        </p:nvSpPr>
        <p:spPr/>
        <p:txBody>
          <a:bodyPr/>
          <a:lstStyle/>
          <a:p>
            <a:fld id="{2C5AAE88-58AF-4473-9956-DE0F0454144F}" type="datetime1">
              <a:rPr lang="en-IN" smtClean="0"/>
              <a:t>06-01-2026</a:t>
            </a:fld>
            <a:endParaRPr lang="en-IN"/>
          </a:p>
        </p:txBody>
      </p:sp>
      <p:sp>
        <p:nvSpPr>
          <p:cNvPr id="6" name="Footer Placeholder 5">
            <a:extLst>
              <a:ext uri="{FF2B5EF4-FFF2-40B4-BE49-F238E27FC236}">
                <a16:creationId xmlns:a16="http://schemas.microsoft.com/office/drawing/2014/main" xmlns="" id="{CD4B3C28-A5A5-4F0D-94E8-52C94A33554C}"/>
              </a:ext>
            </a:extLst>
          </p:cNvPr>
          <p:cNvSpPr>
            <a:spLocks noGrp="1"/>
          </p:cNvSpPr>
          <p:nvPr>
            <p:ph type="ftr" sz="quarter" idx="11"/>
          </p:nvPr>
        </p:nvSpPr>
        <p:spPr/>
        <p:txBody>
          <a:bodyPr/>
          <a:lstStyle/>
          <a:p>
            <a:r>
              <a:rPr lang="en-US"/>
              <a:t>Gayatri Vidya Parishad College for Degree and PG Courses(A)</a:t>
            </a:r>
            <a:endParaRPr lang="en-IN"/>
          </a:p>
        </p:txBody>
      </p:sp>
      <p:sp>
        <p:nvSpPr>
          <p:cNvPr id="7" name="Slide Number Placeholder 6">
            <a:extLst>
              <a:ext uri="{FF2B5EF4-FFF2-40B4-BE49-F238E27FC236}">
                <a16:creationId xmlns:a16="http://schemas.microsoft.com/office/drawing/2014/main" xmlns="" id="{BB8B0936-0581-41E0-996A-C2D7FB95B24A}"/>
              </a:ext>
            </a:extLst>
          </p:cNvPr>
          <p:cNvSpPr>
            <a:spLocks noGrp="1"/>
          </p:cNvSpPr>
          <p:nvPr>
            <p:ph type="sldNum" sz="quarter" idx="12"/>
          </p:nvPr>
        </p:nvSpPr>
        <p:spPr/>
        <p:txBody>
          <a:bodyPr/>
          <a:lstStyle/>
          <a:p>
            <a:fld id="{003D4B34-D32C-49C1-833D-E750DF4FE443}" type="slidenum">
              <a:rPr lang="en-IN" smtClean="0"/>
              <a:t>‹#›</a:t>
            </a:fld>
            <a:endParaRPr lang="en-IN"/>
          </a:p>
        </p:txBody>
      </p:sp>
    </p:spTree>
    <p:extLst>
      <p:ext uri="{BB962C8B-B14F-4D97-AF65-F5344CB8AC3E}">
        <p14:creationId xmlns:p14="http://schemas.microsoft.com/office/powerpoint/2010/main" val="11074806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8DB9D26-4359-4288-BD78-4373ABD34E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8B7B9977-1F99-4B84-9E70-246E20EC04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47DB2AC6-DCE4-4313-8F4D-4620681E03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xmlns="" id="{0E9E55B8-3065-49FD-8B96-468EBC375337}"/>
              </a:ext>
            </a:extLst>
          </p:cNvPr>
          <p:cNvSpPr>
            <a:spLocks noGrp="1"/>
          </p:cNvSpPr>
          <p:nvPr>
            <p:ph type="dt" sz="half" idx="10"/>
          </p:nvPr>
        </p:nvSpPr>
        <p:spPr/>
        <p:txBody>
          <a:bodyPr/>
          <a:lstStyle/>
          <a:p>
            <a:fld id="{3C40B2C4-F667-4D16-B8F5-D67A741B5C0E}" type="datetime1">
              <a:rPr lang="en-IN" smtClean="0"/>
              <a:t>06-01-2026</a:t>
            </a:fld>
            <a:endParaRPr lang="en-IN"/>
          </a:p>
        </p:txBody>
      </p:sp>
      <p:sp>
        <p:nvSpPr>
          <p:cNvPr id="6" name="Footer Placeholder 5">
            <a:extLst>
              <a:ext uri="{FF2B5EF4-FFF2-40B4-BE49-F238E27FC236}">
                <a16:creationId xmlns:a16="http://schemas.microsoft.com/office/drawing/2014/main" xmlns="" id="{79331F19-52D7-48E7-860B-98A1B367551B}"/>
              </a:ext>
            </a:extLst>
          </p:cNvPr>
          <p:cNvSpPr>
            <a:spLocks noGrp="1"/>
          </p:cNvSpPr>
          <p:nvPr>
            <p:ph type="ftr" sz="quarter" idx="11"/>
          </p:nvPr>
        </p:nvSpPr>
        <p:spPr/>
        <p:txBody>
          <a:bodyPr/>
          <a:lstStyle/>
          <a:p>
            <a:r>
              <a:rPr lang="en-US"/>
              <a:t>Gayatri Vidya Parishad College for Degree and PG Courses(A)</a:t>
            </a:r>
            <a:endParaRPr lang="en-IN"/>
          </a:p>
        </p:txBody>
      </p:sp>
      <p:sp>
        <p:nvSpPr>
          <p:cNvPr id="7" name="Slide Number Placeholder 6">
            <a:extLst>
              <a:ext uri="{FF2B5EF4-FFF2-40B4-BE49-F238E27FC236}">
                <a16:creationId xmlns:a16="http://schemas.microsoft.com/office/drawing/2014/main" xmlns="" id="{12ADDA07-E83D-4531-B6F5-8F29AEF5D622}"/>
              </a:ext>
            </a:extLst>
          </p:cNvPr>
          <p:cNvSpPr>
            <a:spLocks noGrp="1"/>
          </p:cNvSpPr>
          <p:nvPr>
            <p:ph type="sldNum" sz="quarter" idx="12"/>
          </p:nvPr>
        </p:nvSpPr>
        <p:spPr/>
        <p:txBody>
          <a:bodyPr/>
          <a:lstStyle/>
          <a:p>
            <a:fld id="{003D4B34-D32C-49C1-833D-E750DF4FE443}" type="slidenum">
              <a:rPr lang="en-IN" smtClean="0"/>
              <a:t>‹#›</a:t>
            </a:fld>
            <a:endParaRPr lang="en-IN"/>
          </a:p>
        </p:txBody>
      </p:sp>
    </p:spTree>
    <p:extLst>
      <p:ext uri="{BB962C8B-B14F-4D97-AF65-F5344CB8AC3E}">
        <p14:creationId xmlns:p14="http://schemas.microsoft.com/office/powerpoint/2010/main" val="1241916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FD6CBF-E744-4BA0-AE80-F665A2EFB27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4F9433F9-0845-4CAE-B86C-5B8FDFF4955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0DDE06C8-76CF-4A79-B907-EA6F3703E173}"/>
              </a:ext>
            </a:extLst>
          </p:cNvPr>
          <p:cNvSpPr>
            <a:spLocks noGrp="1"/>
          </p:cNvSpPr>
          <p:nvPr>
            <p:ph type="dt" sz="half" idx="10"/>
          </p:nvPr>
        </p:nvSpPr>
        <p:spPr/>
        <p:txBody>
          <a:bodyPr/>
          <a:lstStyle/>
          <a:p>
            <a:fld id="{86CF1F03-F78D-42E0-B2F0-2D179697EBBD}" type="datetime1">
              <a:rPr lang="en-IN" smtClean="0"/>
              <a:t>06-01-2026</a:t>
            </a:fld>
            <a:endParaRPr lang="en-IN"/>
          </a:p>
        </p:txBody>
      </p:sp>
      <p:sp>
        <p:nvSpPr>
          <p:cNvPr id="5" name="Footer Placeholder 4">
            <a:extLst>
              <a:ext uri="{FF2B5EF4-FFF2-40B4-BE49-F238E27FC236}">
                <a16:creationId xmlns:a16="http://schemas.microsoft.com/office/drawing/2014/main" xmlns="" id="{ACBDE82E-20AE-48CB-B5F6-11375E803E6B}"/>
              </a:ext>
            </a:extLst>
          </p:cNvPr>
          <p:cNvSpPr>
            <a:spLocks noGrp="1"/>
          </p:cNvSpPr>
          <p:nvPr>
            <p:ph type="ftr" sz="quarter" idx="11"/>
          </p:nvPr>
        </p:nvSpPr>
        <p:spPr/>
        <p:txBody>
          <a:bodyPr/>
          <a:lstStyle/>
          <a:p>
            <a:r>
              <a:rPr lang="en-US"/>
              <a:t>Gayatri Vidya Parishad College for Degree and PG Courses(A)</a:t>
            </a:r>
            <a:endParaRPr lang="en-IN"/>
          </a:p>
        </p:txBody>
      </p:sp>
      <p:sp>
        <p:nvSpPr>
          <p:cNvPr id="6" name="Slide Number Placeholder 5">
            <a:extLst>
              <a:ext uri="{FF2B5EF4-FFF2-40B4-BE49-F238E27FC236}">
                <a16:creationId xmlns:a16="http://schemas.microsoft.com/office/drawing/2014/main" xmlns="" id="{B95A5A3B-62BA-40BB-8DE2-AADFA8884EE3}"/>
              </a:ext>
            </a:extLst>
          </p:cNvPr>
          <p:cNvSpPr>
            <a:spLocks noGrp="1"/>
          </p:cNvSpPr>
          <p:nvPr>
            <p:ph type="sldNum" sz="quarter" idx="12"/>
          </p:nvPr>
        </p:nvSpPr>
        <p:spPr/>
        <p:txBody>
          <a:bodyPr/>
          <a:lstStyle/>
          <a:p>
            <a:fld id="{003D4B34-D32C-49C1-833D-E750DF4FE443}" type="slidenum">
              <a:rPr lang="en-IN" smtClean="0"/>
              <a:t>‹#›</a:t>
            </a:fld>
            <a:endParaRPr lang="en-IN"/>
          </a:p>
        </p:txBody>
      </p:sp>
    </p:spTree>
    <p:extLst>
      <p:ext uri="{BB962C8B-B14F-4D97-AF65-F5344CB8AC3E}">
        <p14:creationId xmlns:p14="http://schemas.microsoft.com/office/powerpoint/2010/main" val="25775163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020309F5-45B0-4758-8834-A9843F194DE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7A902BE4-3019-4786-8EBB-10C5DE514A7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D37EDB15-FF0F-4AF0-85EC-FEF1C512C21C}"/>
              </a:ext>
            </a:extLst>
          </p:cNvPr>
          <p:cNvSpPr>
            <a:spLocks noGrp="1"/>
          </p:cNvSpPr>
          <p:nvPr>
            <p:ph type="dt" sz="half" idx="10"/>
          </p:nvPr>
        </p:nvSpPr>
        <p:spPr/>
        <p:txBody>
          <a:bodyPr/>
          <a:lstStyle/>
          <a:p>
            <a:fld id="{0055AA01-82EE-47E2-A161-9B89F3D016F6}" type="datetime1">
              <a:rPr lang="en-IN" smtClean="0"/>
              <a:t>06-01-2026</a:t>
            </a:fld>
            <a:endParaRPr lang="en-IN"/>
          </a:p>
        </p:txBody>
      </p:sp>
      <p:sp>
        <p:nvSpPr>
          <p:cNvPr id="5" name="Footer Placeholder 4">
            <a:extLst>
              <a:ext uri="{FF2B5EF4-FFF2-40B4-BE49-F238E27FC236}">
                <a16:creationId xmlns:a16="http://schemas.microsoft.com/office/drawing/2014/main" xmlns="" id="{F091668D-573C-4B3E-B133-0FC597689801}"/>
              </a:ext>
            </a:extLst>
          </p:cNvPr>
          <p:cNvSpPr>
            <a:spLocks noGrp="1"/>
          </p:cNvSpPr>
          <p:nvPr>
            <p:ph type="ftr" sz="quarter" idx="11"/>
          </p:nvPr>
        </p:nvSpPr>
        <p:spPr/>
        <p:txBody>
          <a:bodyPr/>
          <a:lstStyle/>
          <a:p>
            <a:r>
              <a:rPr lang="en-US"/>
              <a:t>Gayatri Vidya Parishad College for Degree and PG Courses(A)</a:t>
            </a:r>
            <a:endParaRPr lang="en-IN"/>
          </a:p>
        </p:txBody>
      </p:sp>
      <p:sp>
        <p:nvSpPr>
          <p:cNvPr id="6" name="Slide Number Placeholder 5">
            <a:extLst>
              <a:ext uri="{FF2B5EF4-FFF2-40B4-BE49-F238E27FC236}">
                <a16:creationId xmlns:a16="http://schemas.microsoft.com/office/drawing/2014/main" xmlns="" id="{837226E3-4EEE-48F9-8C3C-891FD7A13156}"/>
              </a:ext>
            </a:extLst>
          </p:cNvPr>
          <p:cNvSpPr>
            <a:spLocks noGrp="1"/>
          </p:cNvSpPr>
          <p:nvPr>
            <p:ph type="sldNum" sz="quarter" idx="12"/>
          </p:nvPr>
        </p:nvSpPr>
        <p:spPr/>
        <p:txBody>
          <a:bodyPr/>
          <a:lstStyle/>
          <a:p>
            <a:fld id="{003D4B34-D32C-49C1-833D-E750DF4FE443}" type="slidenum">
              <a:rPr lang="en-IN" smtClean="0"/>
              <a:t>‹#›</a:t>
            </a:fld>
            <a:endParaRPr lang="en-IN"/>
          </a:p>
        </p:txBody>
      </p:sp>
    </p:spTree>
    <p:extLst>
      <p:ext uri="{BB962C8B-B14F-4D97-AF65-F5344CB8AC3E}">
        <p14:creationId xmlns:p14="http://schemas.microsoft.com/office/powerpoint/2010/main" val="1640850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57A751C7-723E-461A-8264-E6AFCAC6FA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F5AF1610-1507-4514-A6C9-DDC46B18B9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AE46E9C8-EC44-46EB-A51D-B9DAC41AC5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1B59C8-B0CE-4729-A558-F4CC009ABD3C}" type="datetime1">
              <a:rPr lang="en-IN" smtClean="0"/>
              <a:t>06-01-2026</a:t>
            </a:fld>
            <a:endParaRPr lang="en-IN"/>
          </a:p>
        </p:txBody>
      </p:sp>
      <p:sp>
        <p:nvSpPr>
          <p:cNvPr id="5" name="Footer Placeholder 4">
            <a:extLst>
              <a:ext uri="{FF2B5EF4-FFF2-40B4-BE49-F238E27FC236}">
                <a16:creationId xmlns:a16="http://schemas.microsoft.com/office/drawing/2014/main" xmlns="" id="{A85008C7-9C44-4C80-939A-69F9413092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Gayatri Vidya Parishad College for Degree and PG Courses(A)</a:t>
            </a:r>
            <a:endParaRPr lang="en-IN"/>
          </a:p>
        </p:txBody>
      </p:sp>
      <p:sp>
        <p:nvSpPr>
          <p:cNvPr id="6" name="Slide Number Placeholder 5">
            <a:extLst>
              <a:ext uri="{FF2B5EF4-FFF2-40B4-BE49-F238E27FC236}">
                <a16:creationId xmlns:a16="http://schemas.microsoft.com/office/drawing/2014/main" xmlns="" id="{314E9FB8-BD8B-4D04-AA79-8E29A46B90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3D4B34-D32C-49C1-833D-E750DF4FE443}" type="slidenum">
              <a:rPr lang="en-IN" smtClean="0"/>
              <a:t>‹#›</a:t>
            </a:fld>
            <a:endParaRPr lang="en-IN"/>
          </a:p>
        </p:txBody>
      </p:sp>
    </p:spTree>
    <p:extLst>
      <p:ext uri="{BB962C8B-B14F-4D97-AF65-F5344CB8AC3E}">
        <p14:creationId xmlns:p14="http://schemas.microsoft.com/office/powerpoint/2010/main" val="16433076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algorithm-visualizer.org/" TargetMode="External"/><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hyperlink" Target="https://algorithm-visualizer.seancoughlin.me/" TargetMode="External"/><Relationship Id="rId4" Type="http://schemas.openxmlformats.org/officeDocument/2006/relationships/hyperlink" Target="https://visualgo.net/en"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9FA68B78-AA56-4085-931D-3D7C737B1F65}"/>
              </a:ext>
            </a:extLst>
          </p:cNvPr>
          <p:cNvSpPr/>
          <p:nvPr/>
        </p:nvSpPr>
        <p:spPr>
          <a:xfrm>
            <a:off x="0" y="0"/>
            <a:ext cx="1012874" cy="68580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vert="vert270" wrap="square" tIns="1005840" rIns="0" bIns="91440" rtlCol="0" anchor="ctr" anchorCtr="0">
            <a:scene3d>
              <a:camera prst="orthographicFront">
                <a:rot lat="0" lon="21299999" rev="0"/>
              </a:camera>
              <a:lightRig rig="threePt" dir="t"/>
            </a:scene3d>
          </a:bodyPr>
          <a:lstStyle/>
          <a:p>
            <a:pPr algn="ctr"/>
            <a:r>
              <a:rPr lang="en-US" sz="2800" b="1" dirty="0">
                <a:solidFill>
                  <a:srgbClr val="FFFF00"/>
                </a:solidFill>
                <a:latin typeface="Book Antiqua" panose="02040602050305030304" pitchFamily="18" charset="0"/>
              </a:rPr>
              <a:t>Department of CSE(AI and ML)</a:t>
            </a:r>
            <a:endParaRPr lang="en-IN" sz="2800" b="1" dirty="0">
              <a:solidFill>
                <a:srgbClr val="FFFF00"/>
              </a:solidFill>
              <a:latin typeface="Book Antiqua" panose="02040602050305030304" pitchFamily="18" charset="0"/>
            </a:endParaRPr>
          </a:p>
        </p:txBody>
      </p:sp>
      <p:sp>
        <p:nvSpPr>
          <p:cNvPr id="5" name="Rectangle 4">
            <a:extLst>
              <a:ext uri="{FF2B5EF4-FFF2-40B4-BE49-F238E27FC236}">
                <a16:creationId xmlns:a16="http://schemas.microsoft.com/office/drawing/2014/main" xmlns="" id="{6EF6B620-BE49-4932-92FC-D07D12EC0D8C}"/>
              </a:ext>
            </a:extLst>
          </p:cNvPr>
          <p:cNvSpPr/>
          <p:nvPr/>
        </p:nvSpPr>
        <p:spPr>
          <a:xfrm>
            <a:off x="0" y="0"/>
            <a:ext cx="1012874" cy="108321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7" name="Straight Connector 6">
            <a:extLst>
              <a:ext uri="{FF2B5EF4-FFF2-40B4-BE49-F238E27FC236}">
                <a16:creationId xmlns:a16="http://schemas.microsoft.com/office/drawing/2014/main" xmlns="" id="{E2EAE2BD-511C-40BD-A81F-D44914112F27}"/>
              </a:ext>
            </a:extLst>
          </p:cNvPr>
          <p:cNvCxnSpPr/>
          <p:nvPr/>
        </p:nvCxnSpPr>
        <p:spPr>
          <a:xfrm>
            <a:off x="1237956" y="1384995"/>
            <a:ext cx="10649243" cy="0"/>
          </a:xfrm>
          <a:prstGeom prst="line">
            <a:avLst/>
          </a:prstGeom>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xmlns="" id="{F93ED17B-98F4-411C-B9C6-96BBDA7FF8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35" y="63304"/>
            <a:ext cx="956603" cy="956603"/>
          </a:xfrm>
          <a:prstGeom prst="rect">
            <a:avLst/>
          </a:prstGeom>
        </p:spPr>
      </p:pic>
      <p:sp>
        <p:nvSpPr>
          <p:cNvPr id="3" name="TextBox 2">
            <a:extLst>
              <a:ext uri="{FF2B5EF4-FFF2-40B4-BE49-F238E27FC236}">
                <a16:creationId xmlns:a16="http://schemas.microsoft.com/office/drawing/2014/main" xmlns="" id="{761E4072-F89F-ECC2-F983-F0CC60787416}"/>
              </a:ext>
            </a:extLst>
          </p:cNvPr>
          <p:cNvSpPr txBox="1"/>
          <p:nvPr/>
        </p:nvSpPr>
        <p:spPr>
          <a:xfrm>
            <a:off x="3624906" y="0"/>
            <a:ext cx="4942186" cy="1384995"/>
          </a:xfrm>
          <a:prstGeom prst="rect">
            <a:avLst/>
          </a:prstGeom>
          <a:noFill/>
        </p:spPr>
        <p:txBody>
          <a:bodyPr wrap="none" rtlCol="0">
            <a:spAutoFit/>
          </a:bodyPr>
          <a:lstStyle/>
          <a:p>
            <a:pPr algn="ctr"/>
            <a:r>
              <a:rPr lang="en-IN" sz="6600" b="1" dirty="0">
                <a:solidFill>
                  <a:schemeClr val="accent1">
                    <a:lumMod val="50000"/>
                  </a:schemeClr>
                </a:solidFill>
              </a:rPr>
              <a:t>AlgoViz</a:t>
            </a:r>
            <a:r>
              <a:rPr lang="en-IN" b="1" dirty="0"/>
              <a:t/>
            </a:r>
            <a:br>
              <a:rPr lang="en-IN" b="1" dirty="0"/>
            </a:br>
            <a:r>
              <a:rPr lang="en-IN" b="1" dirty="0"/>
              <a:t>     </a:t>
            </a:r>
            <a:r>
              <a:rPr lang="en-US" b="1" dirty="0"/>
              <a:t>Flask-Based web-app for Teaching Algorithms</a:t>
            </a:r>
            <a:endParaRPr lang="en-IN" b="1" dirty="0"/>
          </a:p>
        </p:txBody>
      </p:sp>
      <p:sp>
        <p:nvSpPr>
          <p:cNvPr id="8" name="Text Box 4">
            <a:extLst>
              <a:ext uri="{FF2B5EF4-FFF2-40B4-BE49-F238E27FC236}">
                <a16:creationId xmlns:a16="http://schemas.microsoft.com/office/drawing/2014/main" xmlns="" id="{5F0707E6-8A37-97C4-5731-B9913CFB1333}"/>
              </a:ext>
            </a:extLst>
          </p:cNvPr>
          <p:cNvSpPr txBox="1"/>
          <p:nvPr/>
        </p:nvSpPr>
        <p:spPr>
          <a:xfrm>
            <a:off x="2750755" y="1657265"/>
            <a:ext cx="6690489" cy="2800767"/>
          </a:xfrm>
          <a:prstGeom prst="rect">
            <a:avLst/>
          </a:prstGeom>
          <a:noFill/>
        </p:spPr>
        <p:txBody>
          <a:bodyPr wrap="square" rtlCol="0">
            <a:spAutoFit/>
          </a:bodyPr>
          <a:lstStyle/>
          <a:p>
            <a:pPr algn="ctr">
              <a:lnSpc>
                <a:spcPct val="130000"/>
              </a:lnSpc>
            </a:pPr>
            <a:r>
              <a:rPr lang="en-US" sz="2800" b="1" dirty="0">
                <a:latin typeface="Times New Roman" panose="02020603050405020304" pitchFamily="18" charset="0"/>
                <a:cs typeface="Times New Roman" panose="02020603050405020304" pitchFamily="18" charset="0"/>
              </a:rPr>
              <a:t>Batch 9</a:t>
            </a:r>
          </a:p>
          <a:p>
            <a:pPr algn="ctr">
              <a:lnSpc>
                <a:spcPct val="130000"/>
              </a:lnSpc>
            </a:pPr>
            <a:endParaRPr lang="en-US" sz="2800" b="1" dirty="0">
              <a:latin typeface="Times New Roman" panose="02020603050405020304" pitchFamily="18" charset="0"/>
              <a:cs typeface="Times New Roman" panose="02020603050405020304" pitchFamily="18" charset="0"/>
            </a:endParaRPr>
          </a:p>
          <a:p>
            <a:pPr algn="ctr">
              <a:lnSpc>
                <a:spcPct val="130000"/>
              </a:lnSpc>
            </a:pPr>
            <a:r>
              <a:rPr lang="en-IN" sz="2400" dirty="0">
                <a:latin typeface="Times New Roman" panose="02020603050405020304" pitchFamily="18" charset="0"/>
                <a:cs typeface="Times New Roman" panose="02020603050405020304" pitchFamily="18" charset="0"/>
              </a:rPr>
              <a:t>1. S. Soniya Yadav           (5221412045)</a:t>
            </a:r>
          </a:p>
          <a:p>
            <a:pPr algn="ctr"/>
            <a:r>
              <a:rPr lang="en-IN" sz="2400" dirty="0">
                <a:latin typeface="Times New Roman" panose="02020603050405020304" pitchFamily="18" charset="0"/>
                <a:cs typeface="Times New Roman" panose="02020603050405020304" pitchFamily="18" charset="0"/>
              </a:rPr>
              <a:t>2. B. Siva Krishna            (5221412005)</a:t>
            </a:r>
          </a:p>
          <a:p>
            <a:pPr algn="ctr"/>
            <a:r>
              <a:rPr lang="en-IN" sz="2400" dirty="0">
                <a:latin typeface="Times New Roman" panose="02020603050405020304" pitchFamily="18" charset="0"/>
                <a:cs typeface="Times New Roman" panose="02020603050405020304" pitchFamily="18" charset="0"/>
              </a:rPr>
              <a:t>3. A. Kushal Pavan           (5221412056)</a:t>
            </a:r>
          </a:p>
          <a:p>
            <a:pPr algn="ctr"/>
            <a:r>
              <a:rPr lang="en-IN" sz="2400" dirty="0">
                <a:latin typeface="Times New Roman" panose="02020603050405020304" pitchFamily="18" charset="0"/>
                <a:cs typeface="Times New Roman" panose="02020603050405020304" pitchFamily="18" charset="0"/>
              </a:rPr>
              <a:t>4. P. Vijaya Bhaskar          (5221412038)</a:t>
            </a:r>
          </a:p>
        </p:txBody>
      </p:sp>
      <p:sp>
        <p:nvSpPr>
          <p:cNvPr id="10" name="Text Box 4">
            <a:extLst>
              <a:ext uri="{FF2B5EF4-FFF2-40B4-BE49-F238E27FC236}">
                <a16:creationId xmlns:a16="http://schemas.microsoft.com/office/drawing/2014/main" xmlns="" id="{472EEF9E-3D32-EB1B-B520-814884174AA1}"/>
              </a:ext>
            </a:extLst>
          </p:cNvPr>
          <p:cNvSpPr txBox="1"/>
          <p:nvPr/>
        </p:nvSpPr>
        <p:spPr>
          <a:xfrm>
            <a:off x="3168256" y="5299791"/>
            <a:ext cx="7063946" cy="524567"/>
          </a:xfrm>
          <a:prstGeom prst="rect">
            <a:avLst/>
          </a:prstGeom>
          <a:noFill/>
        </p:spPr>
        <p:txBody>
          <a:bodyPr wrap="square" rtlCol="0">
            <a:spAutoFit/>
          </a:bodyPr>
          <a:lstStyle/>
          <a:p>
            <a:pPr>
              <a:lnSpc>
                <a:spcPct val="130000"/>
              </a:lnSpc>
            </a:pPr>
            <a:r>
              <a:rPr lang="en-US" sz="2400" b="1" dirty="0">
                <a:latin typeface="Times New Roman" panose="02020603050405020304" pitchFamily="18" charset="0"/>
                <a:cs typeface="Times New Roman" panose="02020603050405020304" pitchFamily="18" charset="0"/>
              </a:rPr>
              <a:t>Guide Name </a:t>
            </a:r>
            <a:r>
              <a:rPr lang="en-US" sz="2400" dirty="0">
                <a:latin typeface="Times New Roman" panose="02020603050405020304" pitchFamily="18" charset="0"/>
                <a:cs typeface="Times New Roman" panose="02020603050405020304" pitchFamily="18" charset="0"/>
              </a:rPr>
              <a:t>: Mrs. K. Kausalya , Assistant Professor</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30523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9FA68B78-AA56-4085-931D-3D7C737B1F65}"/>
              </a:ext>
            </a:extLst>
          </p:cNvPr>
          <p:cNvSpPr/>
          <p:nvPr/>
        </p:nvSpPr>
        <p:spPr>
          <a:xfrm>
            <a:off x="0" y="0"/>
            <a:ext cx="1012874" cy="68580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vert="vert270" wrap="square" tIns="1005840" rIns="0" bIns="91440" rtlCol="0" anchor="ctr" anchorCtr="0">
            <a:scene3d>
              <a:camera prst="orthographicFront">
                <a:rot lat="0" lon="21299999" rev="0"/>
              </a:camera>
              <a:lightRig rig="threePt" dir="t"/>
            </a:scene3d>
          </a:bodyPr>
          <a:lstStyle/>
          <a:p>
            <a:pPr algn="ctr"/>
            <a:r>
              <a:rPr lang="en-US" sz="2800" b="1" dirty="0">
                <a:solidFill>
                  <a:srgbClr val="FFFF00"/>
                </a:solidFill>
                <a:latin typeface="Book Antiqua" panose="02040602050305030304" pitchFamily="18" charset="0"/>
              </a:rPr>
              <a:t>Department of CSE(AI and ML)</a:t>
            </a:r>
            <a:endParaRPr lang="en-IN" sz="2800" b="1" dirty="0">
              <a:solidFill>
                <a:srgbClr val="FFFF00"/>
              </a:solidFill>
              <a:latin typeface="Book Antiqua" panose="02040602050305030304" pitchFamily="18" charset="0"/>
            </a:endParaRPr>
          </a:p>
        </p:txBody>
      </p:sp>
      <p:sp>
        <p:nvSpPr>
          <p:cNvPr id="5" name="Rectangle 4">
            <a:extLst>
              <a:ext uri="{FF2B5EF4-FFF2-40B4-BE49-F238E27FC236}">
                <a16:creationId xmlns:a16="http://schemas.microsoft.com/office/drawing/2014/main" xmlns="" id="{6EF6B620-BE49-4932-92FC-D07D12EC0D8C}"/>
              </a:ext>
            </a:extLst>
          </p:cNvPr>
          <p:cNvSpPr/>
          <p:nvPr/>
        </p:nvSpPr>
        <p:spPr>
          <a:xfrm>
            <a:off x="0" y="0"/>
            <a:ext cx="1012874" cy="108321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7" name="Straight Connector 6">
            <a:extLst>
              <a:ext uri="{FF2B5EF4-FFF2-40B4-BE49-F238E27FC236}">
                <a16:creationId xmlns:a16="http://schemas.microsoft.com/office/drawing/2014/main" xmlns="" id="{E2EAE2BD-511C-40BD-A81F-D44914112F27}"/>
              </a:ext>
            </a:extLst>
          </p:cNvPr>
          <p:cNvCxnSpPr/>
          <p:nvPr/>
        </p:nvCxnSpPr>
        <p:spPr>
          <a:xfrm>
            <a:off x="1237957" y="815920"/>
            <a:ext cx="10649243" cy="0"/>
          </a:xfrm>
          <a:prstGeom prst="line">
            <a:avLst/>
          </a:prstGeom>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xmlns="" id="{F93ED17B-98F4-411C-B9C6-96BBDA7FF8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35" y="63304"/>
            <a:ext cx="956603" cy="956603"/>
          </a:xfrm>
          <a:prstGeom prst="rect">
            <a:avLst/>
          </a:prstGeom>
        </p:spPr>
      </p:pic>
      <p:sp>
        <p:nvSpPr>
          <p:cNvPr id="2" name="TextBox 1">
            <a:extLst>
              <a:ext uri="{FF2B5EF4-FFF2-40B4-BE49-F238E27FC236}">
                <a16:creationId xmlns:a16="http://schemas.microsoft.com/office/drawing/2014/main" xmlns="" id="{F5BB1386-9921-456A-A97C-825D35F6F4C6}"/>
              </a:ext>
            </a:extLst>
          </p:cNvPr>
          <p:cNvSpPr txBox="1"/>
          <p:nvPr/>
        </p:nvSpPr>
        <p:spPr>
          <a:xfrm>
            <a:off x="1237957" y="351723"/>
            <a:ext cx="1477108" cy="461665"/>
          </a:xfrm>
          <a:prstGeom prst="rect">
            <a:avLst/>
          </a:prstGeom>
          <a:noFill/>
        </p:spPr>
        <p:txBody>
          <a:bodyPr wrap="square" rtlCol="0">
            <a:spAutoFit/>
          </a:bodyPr>
          <a:lstStyle/>
          <a:p>
            <a:r>
              <a:rPr lang="en-US" sz="2400" b="1" dirty="0">
                <a:solidFill>
                  <a:schemeClr val="accent1">
                    <a:lumMod val="75000"/>
                  </a:schemeClr>
                </a:solidFill>
                <a:latin typeface="Times New Roman" panose="02020603050405020304" pitchFamily="18" charset="0"/>
                <a:cs typeface="Times New Roman" panose="02020603050405020304" pitchFamily="18" charset="0"/>
              </a:rPr>
              <a:t>Outline</a:t>
            </a:r>
            <a:endParaRPr lang="en-IN" sz="24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xmlns="" id="{8F4217DF-9D43-057B-DA06-3597C5E75CAA}"/>
              </a:ext>
            </a:extLst>
          </p:cNvPr>
          <p:cNvSpPr/>
          <p:nvPr/>
        </p:nvSpPr>
        <p:spPr>
          <a:xfrm>
            <a:off x="3104536" y="1172141"/>
            <a:ext cx="2286000" cy="640080"/>
          </a:xfrm>
          <a:prstGeom prst="rect">
            <a:avLst/>
          </a:prstGeom>
          <a:solidFill>
            <a:srgbClr val="C8E6FF"/>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defRPr sz="1400" b="1"/>
            </a:pPr>
            <a:r>
              <a:rPr dirty="0"/>
              <a:t>📘 </a:t>
            </a:r>
            <a:r>
              <a:rPr dirty="0">
                <a:solidFill>
                  <a:schemeClr val="tx1"/>
                </a:solidFill>
              </a:rPr>
              <a:t>Title &amp; Introduction</a:t>
            </a:r>
          </a:p>
        </p:txBody>
      </p:sp>
      <p:sp>
        <p:nvSpPr>
          <p:cNvPr id="11" name="Rectangle 10">
            <a:extLst>
              <a:ext uri="{FF2B5EF4-FFF2-40B4-BE49-F238E27FC236}">
                <a16:creationId xmlns:a16="http://schemas.microsoft.com/office/drawing/2014/main" xmlns="" id="{8296627B-6307-7474-A957-1CE09C5DB336}"/>
              </a:ext>
            </a:extLst>
          </p:cNvPr>
          <p:cNvSpPr/>
          <p:nvPr/>
        </p:nvSpPr>
        <p:spPr>
          <a:xfrm>
            <a:off x="5481976" y="2011759"/>
            <a:ext cx="2286000" cy="640080"/>
          </a:xfrm>
          <a:prstGeom prst="rect">
            <a:avLst/>
          </a:prstGeom>
          <a:solidFill>
            <a:srgbClr val="E6C8FF"/>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defRPr sz="1400" b="1"/>
            </a:pPr>
            <a:r>
              <a:rPr dirty="0"/>
              <a:t>🎯 </a:t>
            </a:r>
            <a:r>
              <a:rPr sz="1400" dirty="0">
                <a:solidFill>
                  <a:schemeClr val="tx1"/>
                </a:solidFill>
              </a:rPr>
              <a:t>Abstract &amp; Objectives</a:t>
            </a:r>
            <a:endParaRPr dirty="0">
              <a:solidFill>
                <a:schemeClr val="tx1"/>
              </a:solidFill>
            </a:endParaRPr>
          </a:p>
        </p:txBody>
      </p:sp>
      <p:sp>
        <p:nvSpPr>
          <p:cNvPr id="12" name="Rectangle 11">
            <a:extLst>
              <a:ext uri="{FF2B5EF4-FFF2-40B4-BE49-F238E27FC236}">
                <a16:creationId xmlns:a16="http://schemas.microsoft.com/office/drawing/2014/main" xmlns="" id="{8DF4F2DF-DCD8-5FCE-F26D-CD7934A9B900}"/>
              </a:ext>
            </a:extLst>
          </p:cNvPr>
          <p:cNvSpPr/>
          <p:nvPr/>
        </p:nvSpPr>
        <p:spPr>
          <a:xfrm>
            <a:off x="3104536" y="3000627"/>
            <a:ext cx="2286000" cy="640080"/>
          </a:xfrm>
          <a:prstGeom prst="rect">
            <a:avLst/>
          </a:prstGeom>
          <a:solidFill>
            <a:srgbClr val="C8E6FF"/>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defRPr sz="1400" b="1"/>
            </a:pPr>
            <a:r>
              <a:rPr dirty="0"/>
              <a:t>📑 </a:t>
            </a:r>
            <a:r>
              <a:rPr dirty="0">
                <a:solidFill>
                  <a:schemeClr val="tx1"/>
                </a:solidFill>
              </a:rPr>
              <a:t>Literature Survey</a:t>
            </a:r>
          </a:p>
        </p:txBody>
      </p:sp>
      <p:sp>
        <p:nvSpPr>
          <p:cNvPr id="13" name="Rectangle 12">
            <a:extLst>
              <a:ext uri="{FF2B5EF4-FFF2-40B4-BE49-F238E27FC236}">
                <a16:creationId xmlns:a16="http://schemas.microsoft.com/office/drawing/2014/main" xmlns="" id="{644E17F6-A3A5-9CD6-7DA6-64578E565DDD}"/>
              </a:ext>
            </a:extLst>
          </p:cNvPr>
          <p:cNvSpPr/>
          <p:nvPr/>
        </p:nvSpPr>
        <p:spPr>
          <a:xfrm>
            <a:off x="5436256" y="3847677"/>
            <a:ext cx="2286000" cy="640080"/>
          </a:xfrm>
          <a:prstGeom prst="rect">
            <a:avLst/>
          </a:prstGeom>
          <a:solidFill>
            <a:srgbClr val="E6C8FF"/>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defRPr sz="1400" b="1"/>
            </a:pPr>
            <a:r>
              <a:rPr lang="en-IN" dirty="0">
                <a:solidFill>
                  <a:schemeClr val="tx1"/>
                </a:solidFill>
              </a:rPr>
              <a:t>  </a:t>
            </a:r>
            <a:r>
              <a:rPr dirty="0">
                <a:solidFill>
                  <a:srgbClr val="C00000"/>
                </a:solidFill>
              </a:rPr>
              <a:t>⚠</a:t>
            </a:r>
            <a:r>
              <a:rPr lang="en-IN" dirty="0">
                <a:solidFill>
                  <a:schemeClr val="tx1"/>
                </a:solidFill>
              </a:rPr>
              <a:t> </a:t>
            </a:r>
            <a:r>
              <a:rPr dirty="0">
                <a:solidFill>
                  <a:schemeClr val="tx1"/>
                </a:solidFill>
              </a:rPr>
              <a:t> Existing System</a:t>
            </a:r>
          </a:p>
        </p:txBody>
      </p:sp>
      <p:sp>
        <p:nvSpPr>
          <p:cNvPr id="14" name="Rectangle 13">
            <a:extLst>
              <a:ext uri="{FF2B5EF4-FFF2-40B4-BE49-F238E27FC236}">
                <a16:creationId xmlns:a16="http://schemas.microsoft.com/office/drawing/2014/main" xmlns="" id="{6173FF46-C2D2-22B1-A33A-219536F50B75}"/>
              </a:ext>
            </a:extLst>
          </p:cNvPr>
          <p:cNvSpPr/>
          <p:nvPr/>
        </p:nvSpPr>
        <p:spPr>
          <a:xfrm>
            <a:off x="3104536" y="4829113"/>
            <a:ext cx="2286000" cy="640080"/>
          </a:xfrm>
          <a:prstGeom prst="rect">
            <a:avLst/>
          </a:prstGeom>
          <a:solidFill>
            <a:srgbClr val="C8E6FF"/>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defRPr sz="1400" b="1"/>
            </a:pPr>
            <a:r>
              <a:rPr lang="en-IN" dirty="0"/>
              <a:t>💡</a:t>
            </a:r>
            <a:r>
              <a:rPr dirty="0">
                <a:solidFill>
                  <a:schemeClr val="tx1"/>
                </a:solidFill>
              </a:rPr>
              <a:t>Proposed</a:t>
            </a:r>
            <a:r>
              <a:rPr lang="en-IN" dirty="0">
                <a:solidFill>
                  <a:schemeClr val="tx1"/>
                </a:solidFill>
              </a:rPr>
              <a:t> </a:t>
            </a:r>
            <a:r>
              <a:rPr dirty="0">
                <a:solidFill>
                  <a:schemeClr val="tx1"/>
                </a:solidFill>
              </a:rPr>
              <a:t>System/Design</a:t>
            </a:r>
          </a:p>
        </p:txBody>
      </p:sp>
      <p:sp>
        <p:nvSpPr>
          <p:cNvPr id="15" name="Rectangle 14">
            <a:extLst>
              <a:ext uri="{FF2B5EF4-FFF2-40B4-BE49-F238E27FC236}">
                <a16:creationId xmlns:a16="http://schemas.microsoft.com/office/drawing/2014/main" xmlns="" id="{E5B84414-83B7-4845-AEF4-73EAE9BEA745}"/>
              </a:ext>
            </a:extLst>
          </p:cNvPr>
          <p:cNvSpPr/>
          <p:nvPr/>
        </p:nvSpPr>
        <p:spPr>
          <a:xfrm>
            <a:off x="5481976" y="5638037"/>
            <a:ext cx="2286000" cy="640080"/>
          </a:xfrm>
          <a:prstGeom prst="rect">
            <a:avLst/>
          </a:prstGeom>
          <a:solidFill>
            <a:srgbClr val="E6C8FF"/>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defRPr sz="1400" b="1"/>
            </a:pPr>
            <a:r>
              <a:rPr lang="en-IN" dirty="0"/>
              <a:t> </a:t>
            </a:r>
            <a:r>
              <a:rPr dirty="0">
                <a:solidFill>
                  <a:schemeClr val="accent1">
                    <a:lumMod val="75000"/>
                  </a:schemeClr>
                </a:solidFill>
              </a:rPr>
              <a:t>⚙</a:t>
            </a:r>
            <a:r>
              <a:rPr lang="en-IN" dirty="0">
                <a:solidFill>
                  <a:schemeClr val="tx1"/>
                </a:solidFill>
              </a:rPr>
              <a:t> </a:t>
            </a:r>
            <a:r>
              <a:rPr dirty="0">
                <a:solidFill>
                  <a:schemeClr val="tx1"/>
                </a:solidFill>
              </a:rPr>
              <a:t> Methodology</a:t>
            </a:r>
          </a:p>
        </p:txBody>
      </p:sp>
      <p:sp>
        <p:nvSpPr>
          <p:cNvPr id="16" name="Rectangle 15">
            <a:extLst>
              <a:ext uri="{FF2B5EF4-FFF2-40B4-BE49-F238E27FC236}">
                <a16:creationId xmlns:a16="http://schemas.microsoft.com/office/drawing/2014/main" xmlns="" id="{1B686E1C-ED56-06F7-3538-0B6885170822}"/>
              </a:ext>
            </a:extLst>
          </p:cNvPr>
          <p:cNvSpPr/>
          <p:nvPr/>
        </p:nvSpPr>
        <p:spPr>
          <a:xfrm>
            <a:off x="5390536" y="899923"/>
            <a:ext cx="91440" cy="5669280"/>
          </a:xfrm>
          <a:prstGeom prst="rect">
            <a:avLst/>
          </a:prstGeom>
          <a:solidFill>
            <a:srgbClr val="646464"/>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Tree>
    <p:extLst>
      <p:ext uri="{BB962C8B-B14F-4D97-AF65-F5344CB8AC3E}">
        <p14:creationId xmlns:p14="http://schemas.microsoft.com/office/powerpoint/2010/main" val="317720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9FA68B78-AA56-4085-931D-3D7C737B1F65}"/>
              </a:ext>
            </a:extLst>
          </p:cNvPr>
          <p:cNvSpPr/>
          <p:nvPr/>
        </p:nvSpPr>
        <p:spPr>
          <a:xfrm>
            <a:off x="0" y="0"/>
            <a:ext cx="1012874" cy="68580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vert="vert270" wrap="square" tIns="1005840" rIns="0" bIns="91440" rtlCol="0" anchor="ctr" anchorCtr="0">
            <a:scene3d>
              <a:camera prst="orthographicFront">
                <a:rot lat="0" lon="21299999" rev="0"/>
              </a:camera>
              <a:lightRig rig="threePt" dir="t"/>
            </a:scene3d>
          </a:bodyPr>
          <a:lstStyle/>
          <a:p>
            <a:pPr algn="ctr"/>
            <a:r>
              <a:rPr lang="en-US" sz="2800" b="1" dirty="0">
                <a:solidFill>
                  <a:srgbClr val="FFFF00"/>
                </a:solidFill>
                <a:latin typeface="Book Antiqua" panose="02040602050305030304" pitchFamily="18" charset="0"/>
              </a:rPr>
              <a:t>Department of CSE(AI and ML)</a:t>
            </a:r>
            <a:endParaRPr lang="en-IN" sz="2800" b="1" dirty="0">
              <a:solidFill>
                <a:srgbClr val="FFFF00"/>
              </a:solidFill>
              <a:latin typeface="Book Antiqua" panose="02040602050305030304" pitchFamily="18" charset="0"/>
            </a:endParaRPr>
          </a:p>
        </p:txBody>
      </p:sp>
      <p:sp>
        <p:nvSpPr>
          <p:cNvPr id="5" name="Rectangle 4">
            <a:extLst>
              <a:ext uri="{FF2B5EF4-FFF2-40B4-BE49-F238E27FC236}">
                <a16:creationId xmlns:a16="http://schemas.microsoft.com/office/drawing/2014/main" xmlns="" id="{6EF6B620-BE49-4932-92FC-D07D12EC0D8C}"/>
              </a:ext>
            </a:extLst>
          </p:cNvPr>
          <p:cNvSpPr/>
          <p:nvPr/>
        </p:nvSpPr>
        <p:spPr>
          <a:xfrm>
            <a:off x="0" y="0"/>
            <a:ext cx="1012874" cy="108321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7" name="Straight Connector 6">
            <a:extLst>
              <a:ext uri="{FF2B5EF4-FFF2-40B4-BE49-F238E27FC236}">
                <a16:creationId xmlns:a16="http://schemas.microsoft.com/office/drawing/2014/main" xmlns="" id="{E2EAE2BD-511C-40BD-A81F-D44914112F27}"/>
              </a:ext>
            </a:extLst>
          </p:cNvPr>
          <p:cNvCxnSpPr/>
          <p:nvPr/>
        </p:nvCxnSpPr>
        <p:spPr>
          <a:xfrm>
            <a:off x="1237957" y="1083212"/>
            <a:ext cx="10649243" cy="0"/>
          </a:xfrm>
          <a:prstGeom prst="line">
            <a:avLst/>
          </a:prstGeom>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xmlns="" id="{F93ED17B-98F4-411C-B9C6-96BBDA7FF8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35" y="63304"/>
            <a:ext cx="956603" cy="956603"/>
          </a:xfrm>
          <a:prstGeom prst="rect">
            <a:avLst/>
          </a:prstGeom>
        </p:spPr>
      </p:pic>
      <p:sp>
        <p:nvSpPr>
          <p:cNvPr id="2" name="Rectangle 1">
            <a:extLst>
              <a:ext uri="{FF2B5EF4-FFF2-40B4-BE49-F238E27FC236}">
                <a16:creationId xmlns:a16="http://schemas.microsoft.com/office/drawing/2014/main" xmlns="" id="{4CA1A4CF-BEFB-4527-B6BC-BC4DBD4AB377}"/>
              </a:ext>
            </a:extLst>
          </p:cNvPr>
          <p:cNvSpPr/>
          <p:nvPr/>
        </p:nvSpPr>
        <p:spPr>
          <a:xfrm>
            <a:off x="1041008" y="583121"/>
            <a:ext cx="10846191" cy="458074"/>
          </a:xfrm>
          <a:prstGeom prst="rect">
            <a:avLst/>
          </a:prstGeom>
        </p:spPr>
        <p:txBody>
          <a:bodyPr wrap="square">
            <a:spAutoFit/>
          </a:bodyPr>
          <a:lstStyle/>
          <a:p>
            <a:pPr algn="ctr">
              <a:lnSpc>
                <a:spcPct val="150000"/>
              </a:lnSpc>
            </a:pPr>
            <a:r>
              <a:rPr lang="en-US" b="1" dirty="0">
                <a:latin typeface="Times New Roman" panose="02020603050405020304" pitchFamily="18" charset="0"/>
                <a:cs typeface="Times New Roman" panose="02020603050405020304" pitchFamily="18" charset="0"/>
              </a:rPr>
              <a:t> Title &amp; Introduction</a:t>
            </a:r>
          </a:p>
        </p:txBody>
      </p:sp>
      <p:sp>
        <p:nvSpPr>
          <p:cNvPr id="6" name="TextBox 5">
            <a:extLst>
              <a:ext uri="{FF2B5EF4-FFF2-40B4-BE49-F238E27FC236}">
                <a16:creationId xmlns:a16="http://schemas.microsoft.com/office/drawing/2014/main" xmlns="" id="{89A9303D-A2E3-9A52-C82A-35BCBBEE3233}"/>
              </a:ext>
            </a:extLst>
          </p:cNvPr>
          <p:cNvSpPr txBox="1"/>
          <p:nvPr/>
        </p:nvSpPr>
        <p:spPr>
          <a:xfrm>
            <a:off x="1237957" y="1316033"/>
            <a:ext cx="2559932" cy="400110"/>
          </a:xfrm>
          <a:prstGeom prst="rect">
            <a:avLst/>
          </a:prstGeom>
          <a:noFill/>
        </p:spPr>
        <p:txBody>
          <a:bodyPr wrap="none" rtlCol="0">
            <a:spAutoFit/>
          </a:bodyPr>
          <a:lstStyle/>
          <a:p>
            <a:r>
              <a:rPr lang="en-IN" sz="2000" b="1" u="sng" dirty="0">
                <a:latin typeface="Times New Roman" panose="02020603050405020304" pitchFamily="18" charset="0"/>
                <a:cs typeface="Times New Roman" panose="02020603050405020304" pitchFamily="18" charset="0"/>
              </a:rPr>
              <a:t>Project Title</a:t>
            </a:r>
            <a:r>
              <a:rPr lang="en-IN" sz="2000" b="1"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AlgoViz</a:t>
            </a:r>
          </a:p>
        </p:txBody>
      </p:sp>
      <p:sp>
        <p:nvSpPr>
          <p:cNvPr id="10" name="TextBox 9">
            <a:extLst>
              <a:ext uri="{FF2B5EF4-FFF2-40B4-BE49-F238E27FC236}">
                <a16:creationId xmlns:a16="http://schemas.microsoft.com/office/drawing/2014/main" xmlns="" id="{C69C2228-82C4-E3E2-0EF1-6DFCBF5703F2}"/>
              </a:ext>
            </a:extLst>
          </p:cNvPr>
          <p:cNvSpPr txBox="1"/>
          <p:nvPr/>
        </p:nvSpPr>
        <p:spPr>
          <a:xfrm>
            <a:off x="1237957" y="2096714"/>
            <a:ext cx="10092653" cy="1015663"/>
          </a:xfrm>
          <a:prstGeom prst="rect">
            <a:avLst/>
          </a:prstGeom>
          <a:noFill/>
        </p:spPr>
        <p:txBody>
          <a:bodyPr wrap="square" rtlCol="0">
            <a:spAutoFit/>
          </a:bodyPr>
          <a:lstStyle/>
          <a:p>
            <a:pPr algn="just"/>
            <a:r>
              <a:rPr lang="en-US" sz="2000" b="1" u="sng" dirty="0">
                <a:latin typeface="Times New Roman" panose="02020603050405020304" pitchFamily="18" charset="0"/>
                <a:cs typeface="Times New Roman" panose="02020603050405020304" pitchFamily="18" charset="0"/>
              </a:rPr>
              <a:t>Background</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Algorithms are the foundation of computer science, yet students often struggle to understand their working through theory alone. Traditional methods fail to show the step-by-step execution, making problem-solving in graphs, puzzles, and optimization difficult to grasp.</a:t>
            </a:r>
          </a:p>
        </p:txBody>
      </p:sp>
      <p:sp>
        <p:nvSpPr>
          <p:cNvPr id="11" name="TextBox 10">
            <a:extLst>
              <a:ext uri="{FF2B5EF4-FFF2-40B4-BE49-F238E27FC236}">
                <a16:creationId xmlns:a16="http://schemas.microsoft.com/office/drawing/2014/main" xmlns="" id="{F144588F-1471-3474-277E-51B200CD8D8E}"/>
              </a:ext>
            </a:extLst>
          </p:cNvPr>
          <p:cNvSpPr txBox="1"/>
          <p:nvPr/>
        </p:nvSpPr>
        <p:spPr>
          <a:xfrm>
            <a:off x="1237957" y="3714529"/>
            <a:ext cx="10018645" cy="1323439"/>
          </a:xfrm>
          <a:prstGeom prst="rect">
            <a:avLst/>
          </a:prstGeom>
          <a:noFill/>
        </p:spPr>
        <p:txBody>
          <a:bodyPr wrap="square" rtlCol="0">
            <a:spAutoFit/>
          </a:bodyPr>
          <a:lstStyle/>
          <a:p>
            <a:pPr algn="just"/>
            <a:r>
              <a:rPr lang="en-US" sz="2000" b="1" u="sng" dirty="0">
                <a:latin typeface="Times New Roman" panose="02020603050405020304" pitchFamily="18" charset="0"/>
                <a:cs typeface="Times New Roman" panose="02020603050405020304" pitchFamily="18" charset="0"/>
              </a:rPr>
              <a:t>Introduction</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This project is a Flask-based web application designed to visualize and simulate algorithms interactively. It helps learners understand the step-by-step working of different problem-solving methods through dynamic visualization. The tool makes abstract concepts more intuitive, engaging, and easy to learn.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5007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9FA68B78-AA56-4085-931D-3D7C737B1F65}"/>
              </a:ext>
            </a:extLst>
          </p:cNvPr>
          <p:cNvSpPr/>
          <p:nvPr/>
        </p:nvSpPr>
        <p:spPr>
          <a:xfrm>
            <a:off x="0" y="0"/>
            <a:ext cx="1012874" cy="68580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vert="vert270" wrap="square" tIns="1005840" rIns="0" bIns="91440" rtlCol="0" anchor="ctr" anchorCtr="0">
            <a:scene3d>
              <a:camera prst="orthographicFront">
                <a:rot lat="0" lon="21299999" rev="0"/>
              </a:camera>
              <a:lightRig rig="threePt" dir="t"/>
            </a:scene3d>
          </a:bodyPr>
          <a:lstStyle/>
          <a:p>
            <a:pPr algn="ctr"/>
            <a:r>
              <a:rPr lang="en-US" sz="2800" b="1" dirty="0">
                <a:solidFill>
                  <a:srgbClr val="FFFF00"/>
                </a:solidFill>
                <a:latin typeface="Book Antiqua" panose="02040602050305030304" pitchFamily="18" charset="0"/>
              </a:rPr>
              <a:t>Department of CSE(AI and ML)</a:t>
            </a:r>
            <a:endParaRPr lang="en-IN" sz="2800" b="1" dirty="0">
              <a:solidFill>
                <a:srgbClr val="FFFF00"/>
              </a:solidFill>
              <a:latin typeface="Book Antiqua" panose="02040602050305030304" pitchFamily="18" charset="0"/>
            </a:endParaRPr>
          </a:p>
        </p:txBody>
      </p:sp>
      <p:sp>
        <p:nvSpPr>
          <p:cNvPr id="5" name="Rectangle 4">
            <a:extLst>
              <a:ext uri="{FF2B5EF4-FFF2-40B4-BE49-F238E27FC236}">
                <a16:creationId xmlns:a16="http://schemas.microsoft.com/office/drawing/2014/main" xmlns="" id="{6EF6B620-BE49-4932-92FC-D07D12EC0D8C}"/>
              </a:ext>
            </a:extLst>
          </p:cNvPr>
          <p:cNvSpPr/>
          <p:nvPr/>
        </p:nvSpPr>
        <p:spPr>
          <a:xfrm>
            <a:off x="0" y="0"/>
            <a:ext cx="1012874" cy="108321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7" name="Straight Connector 6">
            <a:extLst>
              <a:ext uri="{FF2B5EF4-FFF2-40B4-BE49-F238E27FC236}">
                <a16:creationId xmlns:a16="http://schemas.microsoft.com/office/drawing/2014/main" xmlns="" id="{E2EAE2BD-511C-40BD-A81F-D44914112F27}"/>
              </a:ext>
            </a:extLst>
          </p:cNvPr>
          <p:cNvCxnSpPr/>
          <p:nvPr/>
        </p:nvCxnSpPr>
        <p:spPr>
          <a:xfrm>
            <a:off x="1237957" y="1083212"/>
            <a:ext cx="10649243" cy="0"/>
          </a:xfrm>
          <a:prstGeom prst="line">
            <a:avLst/>
          </a:prstGeom>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xmlns="" id="{F93ED17B-98F4-411C-B9C6-96BBDA7FF8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35" y="63304"/>
            <a:ext cx="956603" cy="956603"/>
          </a:xfrm>
          <a:prstGeom prst="rect">
            <a:avLst/>
          </a:prstGeom>
        </p:spPr>
      </p:pic>
      <p:sp>
        <p:nvSpPr>
          <p:cNvPr id="2" name="Rectangle 1">
            <a:extLst>
              <a:ext uri="{FF2B5EF4-FFF2-40B4-BE49-F238E27FC236}">
                <a16:creationId xmlns:a16="http://schemas.microsoft.com/office/drawing/2014/main" xmlns="" id="{BF63B687-41ED-43E7-81C4-3E80CFED7874}"/>
              </a:ext>
            </a:extLst>
          </p:cNvPr>
          <p:cNvSpPr/>
          <p:nvPr/>
        </p:nvSpPr>
        <p:spPr>
          <a:xfrm>
            <a:off x="4869312" y="636923"/>
            <a:ext cx="2453376" cy="878895"/>
          </a:xfrm>
          <a:prstGeom prst="rect">
            <a:avLst/>
          </a:prstGeom>
        </p:spPr>
        <p:txBody>
          <a:bodyPr wrap="square">
            <a:spAutoFit/>
          </a:bodyPr>
          <a:lstStyle/>
          <a:p>
            <a:pPr algn="just">
              <a:lnSpc>
                <a:spcPct val="150000"/>
              </a:lnSpc>
            </a:pPr>
            <a:r>
              <a:rPr lang="en-US" b="1" dirty="0">
                <a:latin typeface="Times New Roman" panose="02020603050405020304" pitchFamily="18" charset="0"/>
                <a:cs typeface="Times New Roman" panose="02020603050405020304" pitchFamily="18" charset="0"/>
              </a:rPr>
              <a:t> Abstract &amp; Objectives</a:t>
            </a:r>
          </a:p>
          <a:p>
            <a:pPr algn="just">
              <a:lnSpc>
                <a:spcPct val="150000"/>
              </a:lnSpc>
            </a:pPr>
            <a:r>
              <a:rPr lang="en-US" dirty="0">
                <a:latin typeface="Times New Roman" panose="02020603050405020304" pitchFamily="18" charset="0"/>
                <a:cs typeface="Times New Roman" panose="02020603050405020304" pitchFamily="18" charset="0"/>
              </a:rPr>
              <a:t> 		</a:t>
            </a:r>
            <a:endParaRPr lang="en-IN" dirty="0"/>
          </a:p>
        </p:txBody>
      </p:sp>
      <p:sp>
        <p:nvSpPr>
          <p:cNvPr id="8" name="TextBox 7">
            <a:extLst>
              <a:ext uri="{FF2B5EF4-FFF2-40B4-BE49-F238E27FC236}">
                <a16:creationId xmlns:a16="http://schemas.microsoft.com/office/drawing/2014/main" xmlns="" id="{F78057FE-D11F-FB13-91EB-226D79EF54AA}"/>
              </a:ext>
            </a:extLst>
          </p:cNvPr>
          <p:cNvSpPr txBox="1"/>
          <p:nvPr/>
        </p:nvSpPr>
        <p:spPr>
          <a:xfrm>
            <a:off x="1209821" y="1284120"/>
            <a:ext cx="10748634" cy="2031325"/>
          </a:xfrm>
          <a:prstGeom prst="rect">
            <a:avLst/>
          </a:prstGeom>
          <a:noFill/>
        </p:spPr>
        <p:txBody>
          <a:bodyPr wrap="square">
            <a:spAutoFit/>
          </a:bodyPr>
          <a:lstStyle/>
          <a:p>
            <a:pPr algn="just"/>
            <a:r>
              <a:rPr lang="en-US" b="1" i="0" u="sng" dirty="0">
                <a:effectLst/>
                <a:latin typeface="Times New Roman" panose="02020603050405020304" pitchFamily="18" charset="0"/>
                <a:cs typeface="Times New Roman" panose="02020603050405020304" pitchFamily="18" charset="0"/>
              </a:rPr>
              <a:t>Abstract:</a:t>
            </a:r>
            <a:r>
              <a:rPr lang="en-US" b="0" i="0" dirty="0">
                <a:effectLst/>
                <a:latin typeface="Times New Roman" panose="02020603050405020304" pitchFamily="18" charset="0"/>
                <a:cs typeface="Times New Roman" panose="02020603050405020304" pitchFamily="18" charset="0"/>
              </a:rPr>
              <a:t> This project presents a web-based visualization platform for demonstrating the working of various algorithms in Data Structures, Design and Analysis of Algorithms (DAA), and Artificial Intelligence. Built using the Flask framework, it allows users to construct inputs, define parameters, and observe step-by-step execution of algorithms. The system records operations such as data structure updates, node or element visits, decision-making processes, and where applicable, solution costs. These are presented visually to simplify understanding. By transforming abstract concepts into interactive and engaging experiences, the platform enhances comprehension, making it a valuable tool for both students and educators.</a:t>
            </a:r>
            <a:endParaRPr lang="en-IN"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xmlns="" id="{D9517E21-0CD1-8481-8A0D-9B234EC96C3A}"/>
              </a:ext>
            </a:extLst>
          </p:cNvPr>
          <p:cNvSpPr txBox="1"/>
          <p:nvPr/>
        </p:nvSpPr>
        <p:spPr>
          <a:xfrm>
            <a:off x="1209821" y="3816890"/>
            <a:ext cx="10945580" cy="2031325"/>
          </a:xfrm>
          <a:prstGeom prst="rect">
            <a:avLst/>
          </a:prstGeom>
          <a:noFill/>
        </p:spPr>
        <p:txBody>
          <a:bodyPr wrap="square">
            <a:spAutoFit/>
          </a:bodyPr>
          <a:lstStyle/>
          <a:p>
            <a:pPr algn="just"/>
            <a:r>
              <a:rPr lang="en-US" b="1" i="0" u="sng" dirty="0">
                <a:effectLst/>
                <a:latin typeface="Times New Roman" panose="02020603050405020304" pitchFamily="18" charset="0"/>
                <a:cs typeface="Times New Roman" panose="02020603050405020304" pitchFamily="18" charset="0"/>
              </a:rPr>
              <a:t>Objectives of the project:</a:t>
            </a:r>
          </a:p>
          <a:p>
            <a:pPr algn="just"/>
            <a:endParaRPr lang="en-US" b="1" i="0" u="sng" dirty="0">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To develop a web-based platform for visualizing algorithms in Data Structures, DAA, and Artificial Intelligence.</a:t>
            </a:r>
          </a:p>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To provide an interactive environment where users can define inputs, parameters, and observe algorithm behavior.</a:t>
            </a:r>
          </a:p>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To capture and display step-by-step execution, including operations, decisions, and data structure updates.</a:t>
            </a:r>
          </a:p>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To make abstract algorithmic concepts intuitive and engaging through visual demonstrations.</a:t>
            </a:r>
          </a:p>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To serve as an educational tool that enhances learning for students and supports teaching for educators.</a:t>
            </a:r>
          </a:p>
        </p:txBody>
      </p:sp>
    </p:spTree>
    <p:extLst>
      <p:ext uri="{BB962C8B-B14F-4D97-AF65-F5344CB8AC3E}">
        <p14:creationId xmlns:p14="http://schemas.microsoft.com/office/powerpoint/2010/main" val="2143682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9FA68B78-AA56-4085-931D-3D7C737B1F65}"/>
              </a:ext>
            </a:extLst>
          </p:cNvPr>
          <p:cNvSpPr/>
          <p:nvPr/>
        </p:nvSpPr>
        <p:spPr>
          <a:xfrm>
            <a:off x="0" y="0"/>
            <a:ext cx="1012874" cy="68580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vert="vert270" wrap="square" tIns="1005840" rIns="0" bIns="91440" rtlCol="0" anchor="ctr" anchorCtr="0">
            <a:scene3d>
              <a:camera prst="orthographicFront">
                <a:rot lat="0" lon="21299999" rev="0"/>
              </a:camera>
              <a:lightRig rig="threePt" dir="t"/>
            </a:scene3d>
          </a:bodyPr>
          <a:lstStyle/>
          <a:p>
            <a:pPr algn="ctr"/>
            <a:r>
              <a:rPr lang="en-US" sz="2800" b="1" dirty="0">
                <a:solidFill>
                  <a:srgbClr val="FFFF00"/>
                </a:solidFill>
                <a:latin typeface="Book Antiqua" panose="02040602050305030304" pitchFamily="18" charset="0"/>
              </a:rPr>
              <a:t>Department of CSE(AI and ML)</a:t>
            </a:r>
            <a:endParaRPr lang="en-IN" sz="2800" b="1" dirty="0">
              <a:solidFill>
                <a:srgbClr val="FFFF00"/>
              </a:solidFill>
              <a:latin typeface="Book Antiqua" panose="02040602050305030304" pitchFamily="18" charset="0"/>
            </a:endParaRPr>
          </a:p>
        </p:txBody>
      </p:sp>
      <p:sp>
        <p:nvSpPr>
          <p:cNvPr id="5" name="Rectangle 4">
            <a:extLst>
              <a:ext uri="{FF2B5EF4-FFF2-40B4-BE49-F238E27FC236}">
                <a16:creationId xmlns:a16="http://schemas.microsoft.com/office/drawing/2014/main" xmlns="" id="{6EF6B620-BE49-4932-92FC-D07D12EC0D8C}"/>
              </a:ext>
            </a:extLst>
          </p:cNvPr>
          <p:cNvSpPr/>
          <p:nvPr/>
        </p:nvSpPr>
        <p:spPr>
          <a:xfrm>
            <a:off x="0" y="0"/>
            <a:ext cx="1012874" cy="108321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7" name="Straight Connector 6">
            <a:extLst>
              <a:ext uri="{FF2B5EF4-FFF2-40B4-BE49-F238E27FC236}">
                <a16:creationId xmlns:a16="http://schemas.microsoft.com/office/drawing/2014/main" xmlns="" id="{E2EAE2BD-511C-40BD-A81F-D44914112F27}"/>
              </a:ext>
            </a:extLst>
          </p:cNvPr>
          <p:cNvCxnSpPr/>
          <p:nvPr/>
        </p:nvCxnSpPr>
        <p:spPr>
          <a:xfrm>
            <a:off x="1237957" y="1083212"/>
            <a:ext cx="10649243" cy="0"/>
          </a:xfrm>
          <a:prstGeom prst="line">
            <a:avLst/>
          </a:prstGeom>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xmlns="" id="{F93ED17B-98F4-411C-B9C6-96BBDA7FF8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35" y="63304"/>
            <a:ext cx="956603" cy="956603"/>
          </a:xfrm>
          <a:prstGeom prst="rect">
            <a:avLst/>
          </a:prstGeom>
        </p:spPr>
      </p:pic>
      <p:sp>
        <p:nvSpPr>
          <p:cNvPr id="3" name="Rectangle 2">
            <a:extLst>
              <a:ext uri="{FF2B5EF4-FFF2-40B4-BE49-F238E27FC236}">
                <a16:creationId xmlns:a16="http://schemas.microsoft.com/office/drawing/2014/main" xmlns="" id="{B543CBE5-D11E-41EC-A1AB-8B6142D3D2ED}"/>
              </a:ext>
            </a:extLst>
          </p:cNvPr>
          <p:cNvSpPr/>
          <p:nvPr/>
        </p:nvSpPr>
        <p:spPr>
          <a:xfrm>
            <a:off x="5218196" y="561833"/>
            <a:ext cx="1755609" cy="458074"/>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Existing System</a:t>
            </a:r>
          </a:p>
        </p:txBody>
      </p:sp>
      <p:sp>
        <p:nvSpPr>
          <p:cNvPr id="8" name="TextBox 7">
            <a:extLst>
              <a:ext uri="{FF2B5EF4-FFF2-40B4-BE49-F238E27FC236}">
                <a16:creationId xmlns:a16="http://schemas.microsoft.com/office/drawing/2014/main" xmlns="" id="{8B657F43-1879-63E8-FEB4-CFB7F60291D7}"/>
              </a:ext>
            </a:extLst>
          </p:cNvPr>
          <p:cNvSpPr txBox="1"/>
          <p:nvPr/>
        </p:nvSpPr>
        <p:spPr>
          <a:xfrm>
            <a:off x="1144550" y="1217854"/>
            <a:ext cx="10836056" cy="5293757"/>
          </a:xfrm>
          <a:prstGeom prst="rect">
            <a:avLst/>
          </a:prstGeom>
          <a:noFill/>
        </p:spPr>
        <p:txBody>
          <a:bodyPr wrap="square">
            <a:spAutoFit/>
          </a:bodyPr>
          <a:lstStyle/>
          <a:p>
            <a:pPr algn="just"/>
            <a:r>
              <a:rPr lang="en-IN" sz="1600" b="1" dirty="0"/>
              <a:t>1. Algorithm Visualizer </a:t>
            </a:r>
            <a:r>
              <a:rPr lang="en-IN" sz="1600" b="1" i="1" dirty="0"/>
              <a:t>(</a:t>
            </a:r>
            <a:r>
              <a:rPr lang="en-IN" sz="1600" dirty="0">
                <a:hlinkClick r:id="rId3"/>
              </a:rPr>
              <a:t>https://algorithm-visualizer.org/</a:t>
            </a:r>
            <a:r>
              <a:rPr lang="en-IN" sz="1600" b="1" i="1" dirty="0"/>
              <a:t>)</a:t>
            </a:r>
            <a:endParaRPr lang="en-IN" sz="1600" b="1" dirty="0"/>
          </a:p>
          <a:p>
            <a:pPr algn="just"/>
            <a:r>
              <a:rPr lang="en-IN" sz="1600" dirty="0"/>
              <a:t>This open-source platform offers interactive visualizations for core algorithms such as sorting, searching, and graph traversal, categorized by difficulty levels (easy, medium, hard) to help learners choose based on skill.</a:t>
            </a:r>
          </a:p>
          <a:p>
            <a:pPr algn="just"/>
            <a:r>
              <a:rPr lang="en-IN" sz="1600" b="1" dirty="0"/>
              <a:t>Limitations</a:t>
            </a:r>
            <a:r>
              <a:rPr lang="en-IN" sz="1600" dirty="0"/>
              <a:t>:</a:t>
            </a:r>
          </a:p>
          <a:p>
            <a:pPr algn="just"/>
            <a:r>
              <a:rPr lang="en-IN" sz="1600" dirty="0"/>
              <a:t>Offers only a limited set of basic algorithms.</a:t>
            </a:r>
          </a:p>
          <a:p>
            <a:pPr algn="just"/>
            <a:r>
              <a:rPr lang="en-IN" sz="1600" dirty="0"/>
              <a:t>Interactivity is minimal—users can't customize inputs or see detailed internal steps.</a:t>
            </a:r>
          </a:p>
          <a:p>
            <a:pPr algn="just"/>
            <a:endParaRPr lang="en-IN" sz="1600" dirty="0"/>
          </a:p>
          <a:p>
            <a:pPr algn="just"/>
            <a:r>
              <a:rPr lang="en-IN" sz="1600" b="1" dirty="0"/>
              <a:t>2. </a:t>
            </a:r>
            <a:r>
              <a:rPr lang="en-IN" sz="1600" b="1" dirty="0" err="1"/>
              <a:t>VisuAlgo</a:t>
            </a:r>
            <a:r>
              <a:rPr lang="en-IN" sz="1600" b="1" dirty="0"/>
              <a:t> </a:t>
            </a:r>
            <a:r>
              <a:rPr lang="en-IN" sz="1600" b="1" i="1" dirty="0"/>
              <a:t>(</a:t>
            </a:r>
            <a:r>
              <a:rPr lang="en-IN" sz="1600" dirty="0">
                <a:hlinkClick r:id="rId4"/>
              </a:rPr>
              <a:t>https://visualgo.net/en</a:t>
            </a:r>
            <a:r>
              <a:rPr lang="en-IN" sz="1600" b="1" i="1" dirty="0"/>
              <a:t>)</a:t>
            </a:r>
            <a:endParaRPr lang="en-IN" sz="1600" b="1" dirty="0"/>
          </a:p>
          <a:p>
            <a:pPr algn="just"/>
            <a:r>
              <a:rPr lang="en-IN" sz="1600" dirty="0"/>
              <a:t>A comprehensive educational platform developed at NUS. It supports around 24 visualization modules, including advanced topics like NP-hard problems, and offers features like online quizzes, multiple language support, e-Lecture mode, and custom input functionality </a:t>
            </a:r>
          </a:p>
          <a:p>
            <a:pPr algn="just"/>
            <a:r>
              <a:rPr lang="en-IN" sz="1600" b="1" dirty="0"/>
              <a:t>Limitations</a:t>
            </a:r>
            <a:r>
              <a:rPr lang="en-IN" sz="1600" dirty="0"/>
              <a:t>:</a:t>
            </a:r>
          </a:p>
          <a:p>
            <a:pPr algn="just"/>
            <a:r>
              <a:rPr lang="en-IN" sz="1600" dirty="0"/>
              <a:t>Interactivity is limited—users can’t define weights, heuristics, or tweak execution logic.</a:t>
            </a:r>
          </a:p>
          <a:p>
            <a:pPr algn="just"/>
            <a:r>
              <a:rPr lang="en-IN" sz="1600" dirty="0"/>
              <a:t>Algorithm analysis and computational complexities are not provided.</a:t>
            </a:r>
          </a:p>
          <a:p>
            <a:pPr algn="just"/>
            <a:endParaRPr lang="en-IN" sz="1600" dirty="0"/>
          </a:p>
          <a:p>
            <a:pPr algn="just"/>
            <a:r>
              <a:rPr lang="en-US" sz="1600" b="1" dirty="0"/>
              <a:t>3. Algorithm-Visualizer (</a:t>
            </a:r>
            <a:r>
              <a:rPr lang="en-IN" sz="1600" dirty="0">
                <a:hlinkClick r:id="rId5"/>
              </a:rPr>
              <a:t>https://algorithm-visualizer.seancoughlin.me/</a:t>
            </a:r>
            <a:r>
              <a:rPr lang="en-US" sz="1600" b="1" i="1" dirty="0"/>
              <a:t>)</a:t>
            </a:r>
            <a:endParaRPr lang="en-US" sz="1600" b="1" dirty="0"/>
          </a:p>
          <a:p>
            <a:pPr algn="just"/>
            <a:r>
              <a:rPr lang="en-US" sz="1600" dirty="0"/>
              <a:t>While less documented in our search results, similar tools offer code-based visualizations—allowing users to input or view algorithm code execution visually. However, these tend to prioritize coding rather than educational clarity .</a:t>
            </a:r>
          </a:p>
          <a:p>
            <a:pPr algn="just"/>
            <a:r>
              <a:rPr lang="en-US" sz="1600" b="1" dirty="0"/>
              <a:t>Limitations</a:t>
            </a:r>
            <a:r>
              <a:rPr lang="en-US" sz="1600" dirty="0"/>
              <a:t>:</a:t>
            </a:r>
          </a:p>
          <a:p>
            <a:pPr algn="just"/>
            <a:r>
              <a:rPr lang="en-US" sz="1600" dirty="0"/>
              <a:t>Does not allows user to modify the Data Structures.</a:t>
            </a:r>
          </a:p>
          <a:p>
            <a:endParaRPr lang="en-IN" dirty="0"/>
          </a:p>
        </p:txBody>
      </p:sp>
    </p:spTree>
    <p:extLst>
      <p:ext uri="{BB962C8B-B14F-4D97-AF65-F5344CB8AC3E}">
        <p14:creationId xmlns:p14="http://schemas.microsoft.com/office/powerpoint/2010/main" val="42158327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9FA68B78-AA56-4085-931D-3D7C737B1F65}"/>
              </a:ext>
            </a:extLst>
          </p:cNvPr>
          <p:cNvSpPr/>
          <p:nvPr/>
        </p:nvSpPr>
        <p:spPr>
          <a:xfrm>
            <a:off x="0" y="0"/>
            <a:ext cx="1012874" cy="68580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vert="vert270" wrap="square" tIns="1005840" rIns="0" bIns="91440" rtlCol="0" anchor="ctr" anchorCtr="0">
            <a:scene3d>
              <a:camera prst="orthographicFront">
                <a:rot lat="0" lon="21299999" rev="0"/>
              </a:camera>
              <a:lightRig rig="threePt" dir="t"/>
            </a:scene3d>
          </a:bodyPr>
          <a:lstStyle/>
          <a:p>
            <a:pPr algn="ctr"/>
            <a:r>
              <a:rPr lang="en-US" sz="2800" b="1" dirty="0">
                <a:solidFill>
                  <a:srgbClr val="FFFF00"/>
                </a:solidFill>
                <a:latin typeface="Book Antiqua" panose="02040602050305030304" pitchFamily="18" charset="0"/>
              </a:rPr>
              <a:t>Department of CSE(AI and ML)</a:t>
            </a:r>
            <a:endParaRPr lang="en-IN" sz="2800" b="1" dirty="0">
              <a:solidFill>
                <a:srgbClr val="FFFF00"/>
              </a:solidFill>
              <a:latin typeface="Book Antiqua" panose="02040602050305030304" pitchFamily="18" charset="0"/>
            </a:endParaRPr>
          </a:p>
        </p:txBody>
      </p:sp>
      <p:sp>
        <p:nvSpPr>
          <p:cNvPr id="5" name="Rectangle 4">
            <a:extLst>
              <a:ext uri="{FF2B5EF4-FFF2-40B4-BE49-F238E27FC236}">
                <a16:creationId xmlns:a16="http://schemas.microsoft.com/office/drawing/2014/main" xmlns="" id="{6EF6B620-BE49-4932-92FC-D07D12EC0D8C}"/>
              </a:ext>
            </a:extLst>
          </p:cNvPr>
          <p:cNvSpPr/>
          <p:nvPr/>
        </p:nvSpPr>
        <p:spPr>
          <a:xfrm>
            <a:off x="0" y="0"/>
            <a:ext cx="1012874" cy="108321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7" name="Straight Connector 6">
            <a:extLst>
              <a:ext uri="{FF2B5EF4-FFF2-40B4-BE49-F238E27FC236}">
                <a16:creationId xmlns:a16="http://schemas.microsoft.com/office/drawing/2014/main" xmlns="" id="{E2EAE2BD-511C-40BD-A81F-D44914112F27}"/>
              </a:ext>
            </a:extLst>
          </p:cNvPr>
          <p:cNvCxnSpPr/>
          <p:nvPr/>
        </p:nvCxnSpPr>
        <p:spPr>
          <a:xfrm>
            <a:off x="1237957" y="1083212"/>
            <a:ext cx="10649243" cy="0"/>
          </a:xfrm>
          <a:prstGeom prst="line">
            <a:avLst/>
          </a:prstGeom>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xmlns="" id="{F93ED17B-98F4-411C-B9C6-96BBDA7FF8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35" y="63304"/>
            <a:ext cx="956603" cy="956603"/>
          </a:xfrm>
          <a:prstGeom prst="rect">
            <a:avLst/>
          </a:prstGeom>
        </p:spPr>
      </p:pic>
      <p:sp>
        <p:nvSpPr>
          <p:cNvPr id="2" name="Rectangle 1">
            <a:extLst>
              <a:ext uri="{FF2B5EF4-FFF2-40B4-BE49-F238E27FC236}">
                <a16:creationId xmlns:a16="http://schemas.microsoft.com/office/drawing/2014/main" xmlns="" id="{DBBCD782-1099-49A1-BEAA-6D869441340B}"/>
              </a:ext>
            </a:extLst>
          </p:cNvPr>
          <p:cNvSpPr/>
          <p:nvPr/>
        </p:nvSpPr>
        <p:spPr>
          <a:xfrm>
            <a:off x="4768233" y="625138"/>
            <a:ext cx="2655535" cy="458074"/>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 Proposed System/Design</a:t>
            </a:r>
          </a:p>
        </p:txBody>
      </p:sp>
      <p:sp>
        <p:nvSpPr>
          <p:cNvPr id="3" name="Rectangle 2">
            <a:extLst>
              <a:ext uri="{FF2B5EF4-FFF2-40B4-BE49-F238E27FC236}">
                <a16:creationId xmlns:a16="http://schemas.microsoft.com/office/drawing/2014/main" xmlns="" id="{D7C7F8AD-D91C-4CB3-9BBC-F34636847F30}"/>
              </a:ext>
            </a:extLst>
          </p:cNvPr>
          <p:cNvSpPr/>
          <p:nvPr/>
        </p:nvSpPr>
        <p:spPr>
          <a:xfrm>
            <a:off x="1012874" y="1541286"/>
            <a:ext cx="11027061" cy="4059060"/>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The proposed system is a Flask-based interactive web application designed to visualize the execution of algorithms in a step-by-step manner. Unlike traditional approaches, this platform allows users to directly construct problem scenarios, define parameters such as graph edges, weights, or heuristic values, and then observe how the algorithm proceeds towards a solution.</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system dynamically captures each stage of execution, including node visits, data structure updates, and decision-making steps, and presents them visually in an easy-to-understand format. For optimization or cost-based problems, the solution path and associated cost are also displayed.</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This design emphasizes interactivity, accessibility, and clarity, enabling students to experiment with different inputs and immediately observe the effects. Educators can also use the tool as a demonstration platform in classrooms. By integrating multiple problem domains-such as search strategies, optimization problems, and puzzles—the system provides a comprehensive, unified learning environment that bridges the gap between theory and practice.</a:t>
            </a:r>
          </a:p>
          <a:p>
            <a:pPr algn="just">
              <a:lnSpc>
                <a:spcPct val="150000"/>
              </a:lnSpc>
            </a:pP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05645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xmlns="" id="{E6E5DAF2-B537-79D1-5F0C-4CC48447B4E2}"/>
              </a:ext>
            </a:extLst>
          </p:cNvPr>
          <p:cNvPicPr>
            <a:picLocks noChangeAspect="1"/>
          </p:cNvPicPr>
          <p:nvPr/>
        </p:nvPicPr>
        <p:blipFill>
          <a:blip r:embed="rId2"/>
          <a:srcRect l="2904" t="1756" r="3238" b="1756"/>
          <a:stretch/>
        </p:blipFill>
        <p:spPr>
          <a:xfrm>
            <a:off x="8977788" y="1836669"/>
            <a:ext cx="2025498" cy="4791193"/>
          </a:xfrm>
          <a:prstGeom prst="rect">
            <a:avLst/>
          </a:prstGeom>
        </p:spPr>
      </p:pic>
      <p:sp>
        <p:nvSpPr>
          <p:cNvPr id="4" name="Rectangle 3">
            <a:extLst>
              <a:ext uri="{FF2B5EF4-FFF2-40B4-BE49-F238E27FC236}">
                <a16:creationId xmlns:a16="http://schemas.microsoft.com/office/drawing/2014/main" xmlns="" id="{9FA68B78-AA56-4085-931D-3D7C737B1F65}"/>
              </a:ext>
            </a:extLst>
          </p:cNvPr>
          <p:cNvSpPr/>
          <p:nvPr/>
        </p:nvSpPr>
        <p:spPr>
          <a:xfrm>
            <a:off x="0" y="0"/>
            <a:ext cx="1012874" cy="68580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vert="vert270" wrap="square" tIns="1005840" rIns="0" bIns="91440" rtlCol="0" anchor="ctr" anchorCtr="0">
            <a:scene3d>
              <a:camera prst="orthographicFront">
                <a:rot lat="0" lon="21299999" rev="0"/>
              </a:camera>
              <a:lightRig rig="threePt" dir="t"/>
            </a:scene3d>
          </a:bodyPr>
          <a:lstStyle/>
          <a:p>
            <a:pPr algn="ctr"/>
            <a:r>
              <a:rPr lang="en-US" sz="2800" b="1" dirty="0">
                <a:solidFill>
                  <a:srgbClr val="FFFF00"/>
                </a:solidFill>
                <a:latin typeface="Book Antiqua" panose="02040602050305030304" pitchFamily="18" charset="0"/>
              </a:rPr>
              <a:t>Department of CSE(AI and ML)</a:t>
            </a:r>
            <a:endParaRPr lang="en-IN" sz="2800" b="1" dirty="0">
              <a:solidFill>
                <a:srgbClr val="FFFF00"/>
              </a:solidFill>
              <a:latin typeface="Book Antiqua" panose="02040602050305030304" pitchFamily="18" charset="0"/>
            </a:endParaRPr>
          </a:p>
        </p:txBody>
      </p:sp>
      <p:sp>
        <p:nvSpPr>
          <p:cNvPr id="5" name="Rectangle 4">
            <a:extLst>
              <a:ext uri="{FF2B5EF4-FFF2-40B4-BE49-F238E27FC236}">
                <a16:creationId xmlns:a16="http://schemas.microsoft.com/office/drawing/2014/main" xmlns="" id="{6EF6B620-BE49-4932-92FC-D07D12EC0D8C}"/>
              </a:ext>
            </a:extLst>
          </p:cNvPr>
          <p:cNvSpPr/>
          <p:nvPr/>
        </p:nvSpPr>
        <p:spPr>
          <a:xfrm>
            <a:off x="0" y="0"/>
            <a:ext cx="1012874" cy="108321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7" name="Straight Connector 6">
            <a:extLst>
              <a:ext uri="{FF2B5EF4-FFF2-40B4-BE49-F238E27FC236}">
                <a16:creationId xmlns:a16="http://schemas.microsoft.com/office/drawing/2014/main" xmlns="" id="{E2EAE2BD-511C-40BD-A81F-D44914112F27}"/>
              </a:ext>
            </a:extLst>
          </p:cNvPr>
          <p:cNvCxnSpPr>
            <a:cxnSpLocks/>
          </p:cNvCxnSpPr>
          <p:nvPr/>
        </p:nvCxnSpPr>
        <p:spPr>
          <a:xfrm>
            <a:off x="1070581" y="1019907"/>
            <a:ext cx="11121419" cy="0"/>
          </a:xfrm>
          <a:prstGeom prst="line">
            <a:avLst/>
          </a:prstGeom>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xmlns="" id="{F93ED17B-98F4-411C-B9C6-96BBDA7FF8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135" y="63304"/>
            <a:ext cx="956603" cy="956603"/>
          </a:xfrm>
          <a:prstGeom prst="rect">
            <a:avLst/>
          </a:prstGeom>
        </p:spPr>
      </p:pic>
      <p:sp>
        <p:nvSpPr>
          <p:cNvPr id="3" name="Rectangle 2">
            <a:extLst>
              <a:ext uri="{FF2B5EF4-FFF2-40B4-BE49-F238E27FC236}">
                <a16:creationId xmlns:a16="http://schemas.microsoft.com/office/drawing/2014/main" xmlns="" id="{CC2F90C1-A9C2-48F0-BCB1-A09409EF4CE8}"/>
              </a:ext>
            </a:extLst>
          </p:cNvPr>
          <p:cNvSpPr/>
          <p:nvPr/>
        </p:nvSpPr>
        <p:spPr>
          <a:xfrm>
            <a:off x="5298346" y="312568"/>
            <a:ext cx="1595309" cy="458074"/>
          </a:xfrm>
          <a:prstGeom prst="rect">
            <a:avLst/>
          </a:prstGeom>
        </p:spPr>
        <p:txBody>
          <a:bodyPr wrap="none">
            <a:spAutoFit/>
          </a:bodyPr>
          <a:lstStyle/>
          <a:p>
            <a:pPr algn="ctr">
              <a:lnSpc>
                <a:spcPct val="150000"/>
              </a:lnSpc>
            </a:pPr>
            <a:r>
              <a:rPr lang="en-US" b="1" dirty="0">
                <a:latin typeface="Times New Roman" panose="02020603050405020304" pitchFamily="18" charset="0"/>
                <a:cs typeface="Times New Roman" panose="02020603050405020304" pitchFamily="18" charset="0"/>
              </a:rPr>
              <a:t> Methodology</a:t>
            </a:r>
          </a:p>
        </p:txBody>
      </p:sp>
      <p:sp>
        <p:nvSpPr>
          <p:cNvPr id="17" name="Rectangle 2">
            <a:extLst>
              <a:ext uri="{FF2B5EF4-FFF2-40B4-BE49-F238E27FC236}">
                <a16:creationId xmlns:a16="http://schemas.microsoft.com/office/drawing/2014/main" xmlns="" id="{F53C90C1-A8C6-3655-0010-3FE03DABF89E}"/>
              </a:ext>
            </a:extLst>
          </p:cNvPr>
          <p:cNvSpPr>
            <a:spLocks noChangeArrowheads="1"/>
          </p:cNvSpPr>
          <p:nvPr/>
        </p:nvSpPr>
        <p:spPr bwMode="auto">
          <a:xfrm>
            <a:off x="1188714" y="1187489"/>
            <a:ext cx="6037061" cy="55092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Problem Identification</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 Difficulty in understanding algorithms via theory/pseudocode.</a:t>
            </a:r>
          </a:p>
          <a:p>
            <a:pPr marR="0" lvl="0" algn="just"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 Need for interactive visualization.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Design</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 Flask chosen as framework.</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 UI for graph input, costs, heuristics.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Graph Construction &amp; Input Handling</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1.Build weighted/unweighted graphs.</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2.Accept start/target nodes, costs, heuristics.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Algorithm Implementation</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 Code algorithms in Python.</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 Track steps: node visits, data structure updates, cost.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Visualization &amp; Output</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 Display step-by-step execution.</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 Show traversal order, explored nodes, final path, cost.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Testing &amp; Validation</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 Test with different graphs/problems.</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 Ensure accuracy of paths and results.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Deployment</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 Host Flask web app.</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 Provide user-friendly interface for students/educators.</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cxnSp>
        <p:nvCxnSpPr>
          <p:cNvPr id="20" name="Straight Connector 19">
            <a:extLst>
              <a:ext uri="{FF2B5EF4-FFF2-40B4-BE49-F238E27FC236}">
                <a16:creationId xmlns:a16="http://schemas.microsoft.com/office/drawing/2014/main" xmlns="" id="{2F1A37CE-906C-2C8A-301B-FC4CD923876E}"/>
              </a:ext>
            </a:extLst>
          </p:cNvPr>
          <p:cNvCxnSpPr>
            <a:cxnSpLocks/>
          </p:cNvCxnSpPr>
          <p:nvPr/>
        </p:nvCxnSpPr>
        <p:spPr>
          <a:xfrm>
            <a:off x="8101781" y="1019907"/>
            <a:ext cx="0" cy="5838093"/>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xmlns="" id="{61013016-83F5-8440-3CC8-B516D29227AA}"/>
              </a:ext>
            </a:extLst>
          </p:cNvPr>
          <p:cNvSpPr txBox="1"/>
          <p:nvPr/>
        </p:nvSpPr>
        <p:spPr>
          <a:xfrm>
            <a:off x="8168532" y="1040383"/>
            <a:ext cx="3283912" cy="923330"/>
          </a:xfrm>
          <a:prstGeom prst="rect">
            <a:avLst/>
          </a:prstGeom>
          <a:noFill/>
        </p:spPr>
        <p:txBody>
          <a:bodyPr wrap="none" rtlCol="0">
            <a:spAutoFit/>
          </a:bodyPr>
          <a:lstStyle/>
          <a:p>
            <a:pPr algn="ctr"/>
            <a:r>
              <a:rPr lang="en-IN" b="1" u="sng" dirty="0">
                <a:latin typeface="Times New Roman" panose="02020603050405020304" pitchFamily="18" charset="0"/>
                <a:cs typeface="Times New Roman" panose="02020603050405020304" pitchFamily="18" charset="0"/>
              </a:rPr>
              <a:t>Tools</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Frontend</a:t>
            </a:r>
            <a:r>
              <a:rPr lang="en-IN" dirty="0">
                <a:latin typeface="Times New Roman" panose="02020603050405020304" pitchFamily="18" charset="0"/>
                <a:cs typeface="Times New Roman" panose="02020603050405020304" pitchFamily="18" charset="0"/>
              </a:rPr>
              <a:t>: HTML, CSS, is, D3.js</a:t>
            </a:r>
          </a:p>
          <a:p>
            <a:r>
              <a:rPr lang="en-IN" b="1" dirty="0">
                <a:latin typeface="Times New Roman" panose="02020603050405020304" pitchFamily="18" charset="0"/>
                <a:cs typeface="Times New Roman" panose="02020603050405020304" pitchFamily="18" charset="0"/>
              </a:rPr>
              <a:t>Backend</a:t>
            </a:r>
            <a:r>
              <a:rPr lang="en-IN" dirty="0">
                <a:latin typeface="Times New Roman" panose="02020603050405020304" pitchFamily="18" charset="0"/>
                <a:cs typeface="Times New Roman" panose="02020603050405020304" pitchFamily="18" charset="0"/>
              </a:rPr>
              <a:t>: Python+Flask</a:t>
            </a:r>
          </a:p>
        </p:txBody>
      </p:sp>
    </p:spTree>
    <p:extLst>
      <p:ext uri="{BB962C8B-B14F-4D97-AF65-F5344CB8AC3E}">
        <p14:creationId xmlns:p14="http://schemas.microsoft.com/office/powerpoint/2010/main" val="1285375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E1788CC-85D0-1881-EBDD-BA719A15766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xmlns="" id="{6C365FE7-AF4E-56D2-C2B1-12DF9DF98AAE}"/>
              </a:ext>
            </a:extLst>
          </p:cNvPr>
          <p:cNvSpPr/>
          <p:nvPr/>
        </p:nvSpPr>
        <p:spPr>
          <a:xfrm>
            <a:off x="0" y="0"/>
            <a:ext cx="1012874" cy="68580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vert="vert270" wrap="square" tIns="1005840" rIns="0" bIns="91440" rtlCol="0" anchor="ctr" anchorCtr="0">
            <a:scene3d>
              <a:camera prst="orthographicFront">
                <a:rot lat="0" lon="21299999" rev="0"/>
              </a:camera>
              <a:lightRig rig="threePt" dir="t"/>
            </a:scene3d>
          </a:bodyPr>
          <a:lstStyle/>
          <a:p>
            <a:pPr algn="ctr"/>
            <a:r>
              <a:rPr lang="en-US" sz="2800" b="1" dirty="0">
                <a:solidFill>
                  <a:srgbClr val="FFFF00"/>
                </a:solidFill>
                <a:latin typeface="Book Antiqua" panose="02040602050305030304" pitchFamily="18" charset="0"/>
              </a:rPr>
              <a:t>Department of CSE(AI and ML)</a:t>
            </a:r>
            <a:endParaRPr lang="en-IN" sz="2800" b="1" dirty="0">
              <a:solidFill>
                <a:srgbClr val="FFFF00"/>
              </a:solidFill>
              <a:latin typeface="Book Antiqua" panose="02040602050305030304" pitchFamily="18" charset="0"/>
            </a:endParaRPr>
          </a:p>
        </p:txBody>
      </p:sp>
      <p:sp>
        <p:nvSpPr>
          <p:cNvPr id="5" name="Rectangle 4">
            <a:extLst>
              <a:ext uri="{FF2B5EF4-FFF2-40B4-BE49-F238E27FC236}">
                <a16:creationId xmlns:a16="http://schemas.microsoft.com/office/drawing/2014/main" xmlns="" id="{ABF859D1-CB4B-A4D4-5EF1-23B98DD8C96A}"/>
              </a:ext>
            </a:extLst>
          </p:cNvPr>
          <p:cNvSpPr/>
          <p:nvPr/>
        </p:nvSpPr>
        <p:spPr>
          <a:xfrm>
            <a:off x="0" y="0"/>
            <a:ext cx="1012874" cy="108321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7" name="Straight Connector 6">
            <a:extLst>
              <a:ext uri="{FF2B5EF4-FFF2-40B4-BE49-F238E27FC236}">
                <a16:creationId xmlns:a16="http://schemas.microsoft.com/office/drawing/2014/main" xmlns="" id="{3543D3BA-18E3-B3CB-538E-FDC8E5EC9314}"/>
              </a:ext>
            </a:extLst>
          </p:cNvPr>
          <p:cNvCxnSpPr>
            <a:cxnSpLocks/>
          </p:cNvCxnSpPr>
          <p:nvPr/>
        </p:nvCxnSpPr>
        <p:spPr>
          <a:xfrm>
            <a:off x="1070581" y="1019907"/>
            <a:ext cx="11121419" cy="0"/>
          </a:xfrm>
          <a:prstGeom prst="line">
            <a:avLst/>
          </a:prstGeom>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xmlns="" id="{FE7AC084-8711-C37E-41E3-D76A832E3E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35" y="63304"/>
            <a:ext cx="956603" cy="956603"/>
          </a:xfrm>
          <a:prstGeom prst="rect">
            <a:avLst/>
          </a:prstGeom>
        </p:spPr>
      </p:pic>
      <p:sp>
        <p:nvSpPr>
          <p:cNvPr id="6" name="Rectangle 5">
            <a:extLst>
              <a:ext uri="{FF2B5EF4-FFF2-40B4-BE49-F238E27FC236}">
                <a16:creationId xmlns:a16="http://schemas.microsoft.com/office/drawing/2014/main" xmlns="" id="{6F9CB3B1-3CA7-F56B-02AE-25874F84DE60}"/>
              </a:ext>
            </a:extLst>
          </p:cNvPr>
          <p:cNvSpPr/>
          <p:nvPr/>
        </p:nvSpPr>
        <p:spPr>
          <a:xfrm>
            <a:off x="4397908" y="312568"/>
            <a:ext cx="3396186" cy="463397"/>
          </a:xfrm>
          <a:prstGeom prst="rect">
            <a:avLst/>
          </a:prstGeom>
        </p:spPr>
        <p:txBody>
          <a:bodyPr wrap="none">
            <a:spAutoFit/>
          </a:bodyPr>
          <a:lstStyle/>
          <a:p>
            <a:pPr algn="ctr">
              <a:lnSpc>
                <a:spcPct val="150000"/>
              </a:lnSpc>
            </a:pPr>
            <a:r>
              <a:rPr lang="en-IN" b="1" dirty="0"/>
              <a:t>Unified Modeling Language(UML)</a:t>
            </a:r>
            <a:endParaRPr lang="en-US"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xmlns="" id="{8035EBBF-AFF4-E0C4-1933-3AA15EC242C3}"/>
              </a:ext>
            </a:extLst>
          </p:cNvPr>
          <p:cNvSpPr txBox="1"/>
          <p:nvPr/>
        </p:nvSpPr>
        <p:spPr>
          <a:xfrm>
            <a:off x="1070580" y="1533833"/>
            <a:ext cx="11121419" cy="4801314"/>
          </a:xfrm>
          <a:prstGeom prst="rect">
            <a:avLst/>
          </a:prstGeom>
          <a:noFill/>
        </p:spPr>
        <p:txBody>
          <a:bodyPr wrap="square" numCol="1">
            <a:spAutoFit/>
          </a:bodyPr>
          <a:lstStyle/>
          <a:p>
            <a:pPr algn="just"/>
            <a:r>
              <a:rPr lang="en-US" b="1" dirty="0">
                <a:solidFill>
                  <a:schemeClr val="accent1">
                    <a:lumMod val="75000"/>
                  </a:schemeClr>
                </a:solidFill>
                <a:latin typeface="Times New Roman" panose="02020603050405020304" pitchFamily="18" charset="0"/>
                <a:cs typeface="Times New Roman" panose="02020603050405020304" pitchFamily="18" charset="0"/>
              </a:rPr>
              <a:t>UML diagrams</a:t>
            </a:r>
            <a:r>
              <a:rPr lang="en-US" dirty="0">
                <a:solidFill>
                  <a:schemeClr val="accent1">
                    <a:lumMod val="75000"/>
                  </a:schemeClr>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are standardized visual representations used to model the structure and behavior of a system.</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They help in planning, designing, and understanding software systems clearly before implementation.</a:t>
            </a:r>
          </a:p>
          <a:p>
            <a:pPr marL="285750" indent="-285750" algn="just">
              <a:buFont typeface="Arial" panose="020B0604020202020204" pitchFamily="34" charset="0"/>
              <a:buChar char="•"/>
            </a:pPr>
            <a:endParaRPr lang="en-US" dirty="0"/>
          </a:p>
          <a:p>
            <a:pPr algn="just"/>
            <a:endParaRPr lang="en-US" dirty="0"/>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Use Case Diagram</a:t>
            </a:r>
            <a:r>
              <a:rPr lang="en-US" dirty="0">
                <a:latin typeface="Times New Roman" panose="02020603050405020304" pitchFamily="18" charset="0"/>
                <a:cs typeface="Times New Roman" panose="02020603050405020304" pitchFamily="18" charset="0"/>
              </a:rPr>
              <a:t> shows how users (actors) interact with a system.</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It represents the system’s functionalities and the relationships between users and those functions.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Class Diagram</a:t>
            </a:r>
            <a:r>
              <a:rPr lang="en-US" dirty="0">
                <a:latin typeface="Times New Roman" panose="02020603050405020304" pitchFamily="18" charset="0"/>
                <a:cs typeface="Times New Roman" panose="02020603050405020304" pitchFamily="18" charset="0"/>
              </a:rPr>
              <a:t> represents the structure of a system by showing classes, their attributes, methods, and relationships.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It is used to model the static design of an object-oriented system.</a:t>
            </a:r>
          </a:p>
          <a:p>
            <a:pPr marL="285750" indent="-285750">
              <a:buFont typeface="Arial" panose="020B0604020202020204" pitchFamily="34" charset="0"/>
              <a:buChar char="•"/>
            </a:pPr>
            <a:endParaRPr lang="en-IN" dirty="0"/>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Sequence Diagram</a:t>
            </a:r>
            <a:r>
              <a:rPr lang="en-US" dirty="0">
                <a:latin typeface="Times New Roman" panose="02020603050405020304" pitchFamily="18" charset="0"/>
                <a:cs typeface="Times New Roman" panose="02020603050405020304" pitchFamily="18" charset="0"/>
              </a:rPr>
              <a:t> shows the interaction between objects in a system in a time-ordered sequence.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It illustrates how messages are passed between objects to complete a specific functionality.</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Activity Diagram</a:t>
            </a:r>
            <a:r>
              <a:rPr lang="en-US" dirty="0"/>
              <a:t> </a:t>
            </a:r>
            <a:r>
              <a:rPr lang="en-US" dirty="0">
                <a:latin typeface="Times New Roman" panose="02020603050405020304" pitchFamily="18" charset="0"/>
                <a:cs typeface="Times New Roman" panose="02020603050405020304" pitchFamily="18" charset="0"/>
              </a:rPr>
              <a:t>represents the flow of activities or actions in a system.</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It is used to model workflows, decisions, and parallel processes from start to end.</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894307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9FA98B1-4717-E33C-E084-C92C3F519D8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xmlns="" id="{D0628C98-B335-DBB5-9124-843B7C3AAD21}"/>
              </a:ext>
            </a:extLst>
          </p:cNvPr>
          <p:cNvSpPr/>
          <p:nvPr/>
        </p:nvSpPr>
        <p:spPr>
          <a:xfrm>
            <a:off x="0" y="0"/>
            <a:ext cx="1012874" cy="68580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vert="vert270" wrap="square" tIns="1005840" rIns="0" bIns="91440" rtlCol="0" anchor="ctr" anchorCtr="0">
            <a:scene3d>
              <a:camera prst="orthographicFront">
                <a:rot lat="0" lon="21299999" rev="0"/>
              </a:camera>
              <a:lightRig rig="threePt" dir="t"/>
            </a:scene3d>
          </a:bodyPr>
          <a:lstStyle/>
          <a:p>
            <a:pPr algn="ctr"/>
            <a:r>
              <a:rPr lang="en-US" sz="2800" b="1" dirty="0">
                <a:solidFill>
                  <a:srgbClr val="FFFF00"/>
                </a:solidFill>
                <a:latin typeface="Book Antiqua" panose="02040602050305030304" pitchFamily="18" charset="0"/>
              </a:rPr>
              <a:t>Department of CSE(AI and ML)</a:t>
            </a:r>
            <a:endParaRPr lang="en-IN" sz="2800" b="1" dirty="0">
              <a:solidFill>
                <a:srgbClr val="FFFF00"/>
              </a:solidFill>
              <a:latin typeface="Book Antiqua" panose="02040602050305030304" pitchFamily="18" charset="0"/>
            </a:endParaRPr>
          </a:p>
        </p:txBody>
      </p:sp>
      <p:sp>
        <p:nvSpPr>
          <p:cNvPr id="5" name="Rectangle 4">
            <a:extLst>
              <a:ext uri="{FF2B5EF4-FFF2-40B4-BE49-F238E27FC236}">
                <a16:creationId xmlns:a16="http://schemas.microsoft.com/office/drawing/2014/main" xmlns="" id="{8D32E4D5-4D57-7481-3CFB-9A5D4D086658}"/>
              </a:ext>
            </a:extLst>
          </p:cNvPr>
          <p:cNvSpPr/>
          <p:nvPr/>
        </p:nvSpPr>
        <p:spPr>
          <a:xfrm>
            <a:off x="0" y="0"/>
            <a:ext cx="1012874" cy="108321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7" name="Straight Connector 6">
            <a:extLst>
              <a:ext uri="{FF2B5EF4-FFF2-40B4-BE49-F238E27FC236}">
                <a16:creationId xmlns:a16="http://schemas.microsoft.com/office/drawing/2014/main" xmlns="" id="{10873B89-9E70-8E39-9227-762C62B0BFC1}"/>
              </a:ext>
            </a:extLst>
          </p:cNvPr>
          <p:cNvCxnSpPr>
            <a:cxnSpLocks/>
          </p:cNvCxnSpPr>
          <p:nvPr/>
        </p:nvCxnSpPr>
        <p:spPr>
          <a:xfrm>
            <a:off x="1041009" y="803597"/>
            <a:ext cx="11121419" cy="0"/>
          </a:xfrm>
          <a:prstGeom prst="line">
            <a:avLst/>
          </a:prstGeom>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xmlns="" id="{CAB7DAA4-F5FD-5996-DEF4-9D706E649C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135" y="63304"/>
            <a:ext cx="956603" cy="956603"/>
          </a:xfrm>
          <a:prstGeom prst="rect">
            <a:avLst/>
          </a:prstGeom>
        </p:spPr>
      </p:pic>
      <p:sp>
        <p:nvSpPr>
          <p:cNvPr id="2" name="TextBox 1">
            <a:extLst>
              <a:ext uri="{FF2B5EF4-FFF2-40B4-BE49-F238E27FC236}">
                <a16:creationId xmlns:a16="http://schemas.microsoft.com/office/drawing/2014/main" xmlns="" id="{076BCC73-25EA-780A-29EC-1292BC4EA9E7}"/>
              </a:ext>
            </a:extLst>
          </p:cNvPr>
          <p:cNvSpPr txBox="1"/>
          <p:nvPr/>
        </p:nvSpPr>
        <p:spPr>
          <a:xfrm>
            <a:off x="1041009" y="379854"/>
            <a:ext cx="3078405" cy="400110"/>
          </a:xfrm>
          <a:prstGeom prst="rect">
            <a:avLst/>
          </a:prstGeom>
          <a:noFill/>
        </p:spPr>
        <p:txBody>
          <a:bodyPr wrap="square" rtlCol="0">
            <a:spAutoFit/>
          </a:bodyPr>
          <a:lstStyle/>
          <a:p>
            <a:r>
              <a:rPr lang="en-US" sz="2000" b="1" dirty="0">
                <a:solidFill>
                  <a:schemeClr val="accent1">
                    <a:lumMod val="75000"/>
                  </a:schemeClr>
                </a:solidFill>
                <a:latin typeface="Times New Roman" panose="02020603050405020304" pitchFamily="18" charset="0"/>
                <a:cs typeface="Times New Roman" panose="02020603050405020304" pitchFamily="18" charset="0"/>
              </a:rPr>
              <a:t>Use Case Diagram</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xmlns="" id="{D3337B24-F38E-2157-C173-184C5408F3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1009" y="921583"/>
            <a:ext cx="5486327" cy="5838093"/>
          </a:xfrm>
          <a:prstGeom prst="rect">
            <a:avLst/>
          </a:prstGeom>
        </p:spPr>
      </p:pic>
      <p:sp>
        <p:nvSpPr>
          <p:cNvPr id="8" name="TextBox 7">
            <a:extLst>
              <a:ext uri="{FF2B5EF4-FFF2-40B4-BE49-F238E27FC236}">
                <a16:creationId xmlns:a16="http://schemas.microsoft.com/office/drawing/2014/main" xmlns="" id="{C341BAC8-96A8-28E2-C283-7D55CDBD896A}"/>
              </a:ext>
            </a:extLst>
          </p:cNvPr>
          <p:cNvSpPr txBox="1"/>
          <p:nvPr/>
        </p:nvSpPr>
        <p:spPr>
          <a:xfrm>
            <a:off x="6596162" y="827231"/>
            <a:ext cx="5566266" cy="5847755"/>
          </a:xfrm>
          <a:prstGeom prst="rect">
            <a:avLst/>
          </a:prstGeom>
          <a:noFill/>
        </p:spPr>
        <p:txBody>
          <a:bodyPr wrap="square" rtlCol="0">
            <a:spAutoFit/>
          </a:bodyPr>
          <a:lstStyle/>
          <a:p>
            <a:r>
              <a:rPr lang="en-US" sz="1400" b="1" dirty="0">
                <a:latin typeface="Times New Roman" panose="02020603050405020304" pitchFamily="18" charset="0"/>
                <a:cs typeface="Times New Roman" panose="02020603050405020304" pitchFamily="18" charset="0"/>
              </a:rPr>
              <a:t>👤 Actors :</a:t>
            </a:r>
          </a:p>
          <a:p>
            <a:pPr marL="171450" indent="-171450">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User (Student / Learner)</a:t>
            </a:r>
          </a:p>
          <a:p>
            <a:r>
              <a:rPr lang="en-US" sz="1400" dirty="0">
                <a:latin typeface="Times New Roman" panose="02020603050405020304" pitchFamily="18" charset="0"/>
                <a:cs typeface="Times New Roman" panose="02020603050405020304" pitchFamily="18" charset="0"/>
              </a:rPr>
              <a:t>The user interacts with the system to select algorithms, provide inputs, and observe step-by-step visualizations.</a:t>
            </a:r>
          </a:p>
          <a:p>
            <a:pPr marL="171450" indent="-171450">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Admin</a:t>
            </a:r>
          </a:p>
          <a:p>
            <a:r>
              <a:rPr lang="en-US" sz="1400" dirty="0">
                <a:latin typeface="Times New Roman" panose="02020603050405020304" pitchFamily="18" charset="0"/>
                <a:cs typeface="Times New Roman" panose="02020603050405020304" pitchFamily="18" charset="0"/>
              </a:rPr>
              <a:t>The admin manages the algorithm content available in the system.</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This includes adding, updating, or maintaining algorithms.</a:t>
            </a:r>
          </a:p>
          <a:p>
            <a:endParaRPr lang="en-US" sz="12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Select Algorithm</a:t>
            </a:r>
          </a:p>
          <a:p>
            <a:r>
              <a:rPr lang="en-US" sz="1200" dirty="0">
                <a:latin typeface="Times New Roman" panose="02020603050405020304" pitchFamily="18" charset="0"/>
                <a:cs typeface="Times New Roman" panose="02020603050405020304" pitchFamily="18" charset="0"/>
              </a:rPr>
              <a:t>Allows the user to choose an algorithm to be visualized from the available list.</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The selected algorithm determines the required inputs and execution logic.</a:t>
            </a:r>
            <a:br>
              <a:rPr lang="en-US" sz="1200" dirty="0">
                <a:latin typeface="Times New Roman" panose="02020603050405020304" pitchFamily="18"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Provide Inputs</a:t>
            </a:r>
          </a:p>
          <a:p>
            <a:r>
              <a:rPr lang="en-US" sz="1200" dirty="0">
                <a:latin typeface="Times New Roman" panose="02020603050405020304" pitchFamily="18" charset="0"/>
                <a:cs typeface="Times New Roman" panose="02020603050405020304" pitchFamily="18" charset="0"/>
              </a:rPr>
              <a:t>The user enters problem-specific inputs such as graphs, arrays, weights, or heuristics.</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These inputs are used by the system to execute the algorithm correctly.</a:t>
            </a:r>
          </a:p>
          <a:p>
            <a:endParaRPr lang="en-US" sz="12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Provide Visualization Parameters</a:t>
            </a:r>
          </a:p>
          <a:p>
            <a:r>
              <a:rPr lang="en-US" sz="1200" dirty="0">
                <a:latin typeface="Times New Roman" panose="02020603050405020304" pitchFamily="18" charset="0"/>
                <a:cs typeface="Times New Roman" panose="02020603050405020304" pitchFamily="18" charset="0"/>
              </a:rPr>
              <a:t>Allows the user to customize visualization settings like speed and highlighting.</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This improves clarity and understanding of algorithm execution.</a:t>
            </a:r>
          </a:p>
          <a:p>
            <a:endParaRPr lang="en-US" sz="12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Run Algorithm</a:t>
            </a:r>
          </a:p>
          <a:p>
            <a:r>
              <a:rPr lang="en-US" sz="1200" dirty="0">
                <a:latin typeface="Times New Roman" panose="02020603050405020304" pitchFamily="18" charset="0"/>
                <a:cs typeface="Times New Roman" panose="02020603050405020304" pitchFamily="18" charset="0"/>
              </a:rPr>
              <a:t>Executes the selected algorithm using the provided inputs and parameters.</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The system processes and generates step-by-step execution data.</a:t>
            </a:r>
          </a:p>
          <a:p>
            <a:endParaRPr lang="en-US" sz="12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Update Algorithm List</a:t>
            </a:r>
          </a:p>
          <a:p>
            <a:r>
              <a:rPr lang="en-US" sz="1200" dirty="0">
                <a:latin typeface="Times New Roman" panose="02020603050405020304" pitchFamily="18" charset="0"/>
                <a:cs typeface="Times New Roman" panose="02020603050405020304" pitchFamily="18" charset="0"/>
              </a:rPr>
              <a:t>Enables the admin to add or update algorithms in the system.</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This ensures the platform remains updated and extensible.</a:t>
            </a:r>
          </a:p>
          <a:p>
            <a:endParaRPr lang="en-US" sz="12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Reset / Try New Input</a:t>
            </a:r>
          </a:p>
          <a:p>
            <a:r>
              <a:rPr lang="en-US" sz="1200" dirty="0">
                <a:latin typeface="Times New Roman" panose="02020603050405020304" pitchFamily="18" charset="0"/>
                <a:cs typeface="Times New Roman" panose="02020603050405020304" pitchFamily="18" charset="0"/>
              </a:rPr>
              <a:t>Allows the user to reset the current execution and enter new inputs.</a:t>
            </a:r>
            <a:endParaRPr lang="en-US" sz="1200" dirty="0"/>
          </a:p>
        </p:txBody>
      </p:sp>
    </p:spTree>
    <p:extLst>
      <p:ext uri="{BB962C8B-B14F-4D97-AF65-F5344CB8AC3E}">
        <p14:creationId xmlns:p14="http://schemas.microsoft.com/office/powerpoint/2010/main" val="34729348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96A85B4-6FB8-362C-558D-4A12F65D371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xmlns="" id="{A361D105-6F3A-69DF-51BF-3E76E86B7430}"/>
              </a:ext>
            </a:extLst>
          </p:cNvPr>
          <p:cNvSpPr/>
          <p:nvPr/>
        </p:nvSpPr>
        <p:spPr>
          <a:xfrm>
            <a:off x="0" y="0"/>
            <a:ext cx="1012874" cy="68580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vert="vert270" wrap="square" tIns="1005840" rIns="0" bIns="91440" rtlCol="0" anchor="ctr" anchorCtr="0">
            <a:scene3d>
              <a:camera prst="orthographicFront">
                <a:rot lat="0" lon="21299999" rev="0"/>
              </a:camera>
              <a:lightRig rig="threePt" dir="t"/>
            </a:scene3d>
          </a:bodyPr>
          <a:lstStyle/>
          <a:p>
            <a:pPr algn="ctr"/>
            <a:r>
              <a:rPr lang="en-US" sz="2800" b="1" dirty="0">
                <a:solidFill>
                  <a:srgbClr val="FFFF00"/>
                </a:solidFill>
                <a:latin typeface="Book Antiqua" panose="02040602050305030304" pitchFamily="18" charset="0"/>
              </a:rPr>
              <a:t>Department of CSE(AI and ML)</a:t>
            </a:r>
            <a:endParaRPr lang="en-IN" sz="2800" b="1" dirty="0">
              <a:solidFill>
                <a:srgbClr val="FFFF00"/>
              </a:solidFill>
              <a:latin typeface="Book Antiqua" panose="02040602050305030304" pitchFamily="18" charset="0"/>
            </a:endParaRPr>
          </a:p>
        </p:txBody>
      </p:sp>
      <p:sp>
        <p:nvSpPr>
          <p:cNvPr id="5" name="Rectangle 4">
            <a:extLst>
              <a:ext uri="{FF2B5EF4-FFF2-40B4-BE49-F238E27FC236}">
                <a16:creationId xmlns:a16="http://schemas.microsoft.com/office/drawing/2014/main" xmlns="" id="{A1C18572-9AAD-2914-8A32-1E7C263BBB77}"/>
              </a:ext>
            </a:extLst>
          </p:cNvPr>
          <p:cNvSpPr/>
          <p:nvPr/>
        </p:nvSpPr>
        <p:spPr>
          <a:xfrm>
            <a:off x="0" y="0"/>
            <a:ext cx="1012874" cy="108321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7" name="Straight Connector 6">
            <a:extLst>
              <a:ext uri="{FF2B5EF4-FFF2-40B4-BE49-F238E27FC236}">
                <a16:creationId xmlns:a16="http://schemas.microsoft.com/office/drawing/2014/main" xmlns="" id="{1F54AE24-9E0B-3099-7A0A-78B679795296}"/>
              </a:ext>
            </a:extLst>
          </p:cNvPr>
          <p:cNvCxnSpPr>
            <a:cxnSpLocks/>
          </p:cNvCxnSpPr>
          <p:nvPr/>
        </p:nvCxnSpPr>
        <p:spPr>
          <a:xfrm>
            <a:off x="1070581" y="823262"/>
            <a:ext cx="11121419" cy="0"/>
          </a:xfrm>
          <a:prstGeom prst="line">
            <a:avLst/>
          </a:prstGeom>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xmlns="" id="{CBB4CF04-99A5-B864-C38B-49441A0011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135" y="63304"/>
            <a:ext cx="956603" cy="956603"/>
          </a:xfrm>
          <a:prstGeom prst="rect">
            <a:avLst/>
          </a:prstGeom>
        </p:spPr>
      </p:pic>
      <p:sp>
        <p:nvSpPr>
          <p:cNvPr id="2" name="TextBox 1">
            <a:extLst>
              <a:ext uri="{FF2B5EF4-FFF2-40B4-BE49-F238E27FC236}">
                <a16:creationId xmlns:a16="http://schemas.microsoft.com/office/drawing/2014/main" xmlns="" id="{D4D6CBAF-7317-56B6-0B24-6C19939B8877}"/>
              </a:ext>
            </a:extLst>
          </p:cNvPr>
          <p:cNvSpPr txBox="1"/>
          <p:nvPr/>
        </p:nvSpPr>
        <p:spPr>
          <a:xfrm>
            <a:off x="1041009" y="379854"/>
            <a:ext cx="3078405" cy="400110"/>
          </a:xfrm>
          <a:prstGeom prst="rect">
            <a:avLst/>
          </a:prstGeom>
          <a:noFill/>
        </p:spPr>
        <p:txBody>
          <a:bodyPr wrap="square" rtlCol="0">
            <a:spAutoFit/>
          </a:bodyPr>
          <a:lstStyle/>
          <a:p>
            <a:r>
              <a:rPr lang="en-US" sz="2000" b="1" dirty="0">
                <a:solidFill>
                  <a:schemeClr val="accent1">
                    <a:lumMod val="75000"/>
                  </a:schemeClr>
                </a:solidFill>
                <a:latin typeface="Times New Roman" panose="02020603050405020304" pitchFamily="18" charset="0"/>
                <a:cs typeface="Times New Roman" panose="02020603050405020304" pitchFamily="18" charset="0"/>
              </a:rPr>
              <a:t>Class Diagram</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xmlns="" id="{F9D10C11-7CA4-4276-3685-4184525767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8731" y="1083212"/>
            <a:ext cx="5045089" cy="5253074"/>
          </a:xfrm>
          <a:prstGeom prst="rect">
            <a:avLst/>
          </a:prstGeom>
        </p:spPr>
      </p:pic>
      <p:sp>
        <p:nvSpPr>
          <p:cNvPr id="8" name="TextBox 7">
            <a:extLst>
              <a:ext uri="{FF2B5EF4-FFF2-40B4-BE49-F238E27FC236}">
                <a16:creationId xmlns:a16="http://schemas.microsoft.com/office/drawing/2014/main" xmlns="" id="{78D6F769-304B-B84C-AC9E-E32C28A31313}"/>
              </a:ext>
            </a:extLst>
          </p:cNvPr>
          <p:cNvSpPr txBox="1"/>
          <p:nvPr/>
        </p:nvSpPr>
        <p:spPr>
          <a:xfrm>
            <a:off x="6596161" y="827231"/>
            <a:ext cx="5567703" cy="5947195"/>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Class: User</a:t>
            </a:r>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The User class represents students or educators who interact with the system to visualize algorithms.</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It allows users to select algorithms, provide inputs, configure parameters, and run algorithms.</a:t>
            </a:r>
          </a:p>
          <a:p>
            <a:r>
              <a:rPr lang="en-US" sz="1400" b="1" dirty="0">
                <a:latin typeface="Times New Roman" panose="02020603050405020304" pitchFamily="18" charset="0"/>
                <a:cs typeface="Times New Roman" panose="02020603050405020304" pitchFamily="18" charset="0"/>
              </a:rPr>
              <a:t>Operations:</a:t>
            </a:r>
          </a:p>
          <a:p>
            <a:r>
              <a:rPr lang="en-US" sz="1400" b="1" dirty="0">
                <a:latin typeface="Times New Roman" panose="02020603050405020304" pitchFamily="18" charset="0"/>
                <a:cs typeface="Times New Roman" panose="02020603050405020304" pitchFamily="18" charset="0"/>
              </a:rPr>
              <a:t>selectAlgorithm()</a:t>
            </a:r>
            <a:r>
              <a:rPr lang="en-US" sz="1400" dirty="0">
                <a:latin typeface="Times New Roman" panose="02020603050405020304" pitchFamily="18" charset="0"/>
                <a:cs typeface="Times New Roman" panose="02020603050405020304" pitchFamily="18" charset="0"/>
              </a:rPr>
              <a:t> – Chooses the algorithm to be visualized.</a:t>
            </a:r>
          </a:p>
          <a:p>
            <a:r>
              <a:rPr lang="en-US" sz="1400" b="1" dirty="0">
                <a:latin typeface="Times New Roman" panose="02020603050405020304" pitchFamily="18" charset="0"/>
                <a:cs typeface="Times New Roman" panose="02020603050405020304" pitchFamily="18" charset="0"/>
              </a:rPr>
              <a:t>provideInput()</a:t>
            </a:r>
            <a:r>
              <a:rPr lang="en-US" sz="1400" dirty="0">
                <a:latin typeface="Times New Roman" panose="02020603050405020304" pitchFamily="18" charset="0"/>
                <a:cs typeface="Times New Roman" panose="02020603050405020304" pitchFamily="18" charset="0"/>
              </a:rPr>
              <a:t> – Supplies inputs such as graphs or arrays.</a:t>
            </a:r>
          </a:p>
          <a:p>
            <a:r>
              <a:rPr lang="en-US" sz="1400" b="1" dirty="0">
                <a:latin typeface="Times New Roman" panose="02020603050405020304" pitchFamily="18" charset="0"/>
                <a:cs typeface="Times New Roman" panose="02020603050405020304" pitchFamily="18" charset="0"/>
              </a:rPr>
              <a:t>runAlgorithm()</a:t>
            </a:r>
            <a:r>
              <a:rPr lang="en-US" sz="1400" dirty="0">
                <a:latin typeface="Times New Roman" panose="02020603050405020304" pitchFamily="18" charset="0"/>
                <a:cs typeface="Times New Roman" panose="02020603050405020304" pitchFamily="18" charset="0"/>
              </a:rPr>
              <a:t> – Initiates algorithm execution.</a:t>
            </a:r>
          </a:p>
          <a:p>
            <a:r>
              <a:rPr lang="en-US" sz="1400" b="1" dirty="0">
                <a:latin typeface="Times New Roman" panose="02020603050405020304" pitchFamily="18" charset="0"/>
                <a:cs typeface="Times New Roman" panose="02020603050405020304" pitchFamily="18" charset="0"/>
              </a:rPr>
              <a:t>setParameters()</a:t>
            </a:r>
            <a:r>
              <a:rPr lang="en-US" sz="1400" dirty="0">
                <a:latin typeface="Times New Roman" panose="02020603050405020304" pitchFamily="18" charset="0"/>
                <a:cs typeface="Times New Roman" panose="02020603050405020304" pitchFamily="18" charset="0"/>
              </a:rPr>
              <a:t> – Sets visualization parameters like speed or highlighting.</a:t>
            </a:r>
          </a:p>
          <a:p>
            <a:endParaRPr 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 Class: Admin</a:t>
            </a:r>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The Admin class manages the algorithms available in the system.</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It ensures the algorithm list remains updated and relevant.</a:t>
            </a:r>
          </a:p>
          <a:p>
            <a:r>
              <a:rPr lang="en-US" sz="1400" b="1" dirty="0">
                <a:latin typeface="Times New Roman" panose="02020603050405020304" pitchFamily="18" charset="0"/>
                <a:cs typeface="Times New Roman" panose="02020603050405020304" pitchFamily="18" charset="0"/>
              </a:rPr>
              <a:t>Operations:</a:t>
            </a:r>
          </a:p>
          <a:p>
            <a:r>
              <a:rPr lang="en-US" sz="1400" b="1" dirty="0">
                <a:latin typeface="Times New Roman" panose="02020603050405020304" pitchFamily="18" charset="0"/>
                <a:cs typeface="Times New Roman" panose="02020603050405020304" pitchFamily="18" charset="0"/>
              </a:rPr>
              <a:t>addAlgorithm()</a:t>
            </a:r>
            <a:r>
              <a:rPr lang="en-US" sz="1400" dirty="0">
                <a:latin typeface="Times New Roman" panose="02020603050405020304" pitchFamily="18" charset="0"/>
                <a:cs typeface="Times New Roman" panose="02020603050405020304" pitchFamily="18" charset="0"/>
              </a:rPr>
              <a:t> – Adds new algorithms to the system.</a:t>
            </a:r>
          </a:p>
          <a:p>
            <a:r>
              <a:rPr lang="en-US" sz="1400" b="1" dirty="0">
                <a:latin typeface="Times New Roman" panose="02020603050405020304" pitchFamily="18" charset="0"/>
                <a:cs typeface="Times New Roman" panose="02020603050405020304" pitchFamily="18" charset="0"/>
              </a:rPr>
              <a:t>deleteAlgorithm()</a:t>
            </a:r>
            <a:r>
              <a:rPr lang="en-US" sz="1400" dirty="0">
                <a:latin typeface="Times New Roman" panose="02020603050405020304" pitchFamily="18" charset="0"/>
                <a:cs typeface="Times New Roman" panose="02020603050405020304" pitchFamily="18" charset="0"/>
              </a:rPr>
              <a:t> – Removes outdated or incorrect algorithms.</a:t>
            </a:r>
          </a:p>
          <a:p>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 Class: System</a:t>
            </a:r>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The System class handles the core functionality of AlgoViz.</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It manages execution, tracks steps, and produces visual output.</a:t>
            </a:r>
          </a:p>
          <a:p>
            <a:r>
              <a:rPr lang="en-US" sz="1400" b="1" dirty="0">
                <a:latin typeface="Times New Roman" panose="02020603050405020304" pitchFamily="18" charset="0"/>
                <a:cs typeface="Times New Roman" panose="02020603050405020304" pitchFamily="18" charset="0"/>
              </a:rPr>
              <a:t>Operations:</a:t>
            </a:r>
          </a:p>
          <a:p>
            <a:r>
              <a:rPr lang="en-US" sz="1400" b="1" dirty="0">
                <a:latin typeface="Times New Roman" panose="02020603050405020304" pitchFamily="18" charset="0"/>
                <a:cs typeface="Times New Roman" panose="02020603050405020304" pitchFamily="18" charset="0"/>
              </a:rPr>
              <a:t>manageFunctionalities()</a:t>
            </a:r>
            <a:r>
              <a:rPr lang="en-US" sz="1400" dirty="0">
                <a:latin typeface="Times New Roman" panose="02020603050405020304" pitchFamily="18" charset="0"/>
                <a:cs typeface="Times New Roman" panose="02020603050405020304" pitchFamily="18" charset="0"/>
              </a:rPr>
              <a:t> – Coordinates overall system operations.</a:t>
            </a:r>
          </a:p>
          <a:p>
            <a:r>
              <a:rPr lang="en-US" sz="1400" b="1" dirty="0">
                <a:latin typeface="Times New Roman" panose="02020603050405020304" pitchFamily="18" charset="0"/>
                <a:cs typeface="Times New Roman" panose="02020603050405020304" pitchFamily="18" charset="0"/>
              </a:rPr>
              <a:t>recordSteps()</a:t>
            </a:r>
            <a:r>
              <a:rPr lang="en-US" sz="1400" dirty="0">
                <a:latin typeface="Times New Roman" panose="02020603050405020304" pitchFamily="18" charset="0"/>
                <a:cs typeface="Times New Roman" panose="02020603050405020304" pitchFamily="18" charset="0"/>
              </a:rPr>
              <a:t> – Stores step-by-step execution details.</a:t>
            </a:r>
          </a:p>
          <a:p>
            <a:r>
              <a:rPr lang="en-US" sz="1400" b="1" dirty="0">
                <a:latin typeface="Times New Roman" panose="02020603050405020304" pitchFamily="18" charset="0"/>
                <a:cs typeface="Times New Roman" panose="02020603050405020304" pitchFamily="18" charset="0"/>
              </a:rPr>
              <a:t>getSteps()</a:t>
            </a:r>
            <a:r>
              <a:rPr lang="en-US" sz="1400" dirty="0">
                <a:latin typeface="Times New Roman" panose="02020603050405020304" pitchFamily="18" charset="0"/>
                <a:cs typeface="Times New Roman" panose="02020603050405020304" pitchFamily="18" charset="0"/>
              </a:rPr>
              <a:t> – Retrieves recorded execution steps.</a:t>
            </a:r>
          </a:p>
          <a:p>
            <a:r>
              <a:rPr lang="en-US" sz="1400" b="1" dirty="0">
                <a:latin typeface="Times New Roman" panose="02020603050405020304" pitchFamily="18" charset="0"/>
                <a:cs typeface="Times New Roman" panose="02020603050405020304" pitchFamily="18" charset="0"/>
              </a:rPr>
              <a:t>renderSteps()</a:t>
            </a:r>
            <a:r>
              <a:rPr lang="en-US" sz="1400" dirty="0">
                <a:latin typeface="Times New Roman" panose="02020603050405020304" pitchFamily="18" charset="0"/>
                <a:cs typeface="Times New Roman" panose="02020603050405020304" pitchFamily="18" charset="0"/>
              </a:rPr>
              <a:t> – Converts steps into visual animations.</a:t>
            </a:r>
          </a:p>
          <a:p>
            <a:r>
              <a:rPr lang="en-US" sz="1400" b="1" dirty="0">
                <a:latin typeface="Times New Roman" panose="02020603050405020304" pitchFamily="18" charset="0"/>
                <a:cs typeface="Times New Roman" panose="02020603050405020304" pitchFamily="18" charset="0"/>
              </a:rPr>
              <a:t>showResult()</a:t>
            </a:r>
            <a:r>
              <a:rPr lang="en-US" sz="1400" dirty="0">
                <a:latin typeface="Times New Roman" panose="02020603050405020304" pitchFamily="18" charset="0"/>
                <a:cs typeface="Times New Roman" panose="02020603050405020304" pitchFamily="18" charset="0"/>
              </a:rPr>
              <a:t> – Displays the final output and cost/path.</a:t>
            </a:r>
          </a:p>
        </p:txBody>
      </p:sp>
    </p:spTree>
    <p:extLst>
      <p:ext uri="{BB962C8B-B14F-4D97-AF65-F5344CB8AC3E}">
        <p14:creationId xmlns:p14="http://schemas.microsoft.com/office/powerpoint/2010/main" val="5013970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99E0466-4A90-E6A0-9374-BFD35B1B248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xmlns="" id="{0CEAAB46-70B1-B576-17D2-5A8C2ED071DB}"/>
              </a:ext>
            </a:extLst>
          </p:cNvPr>
          <p:cNvSpPr/>
          <p:nvPr/>
        </p:nvSpPr>
        <p:spPr>
          <a:xfrm>
            <a:off x="0" y="0"/>
            <a:ext cx="1012874" cy="68580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vert="vert270" wrap="square" tIns="1005840" rIns="0" bIns="91440" rtlCol="0" anchor="ctr" anchorCtr="0">
            <a:scene3d>
              <a:camera prst="orthographicFront">
                <a:rot lat="0" lon="21299999" rev="0"/>
              </a:camera>
              <a:lightRig rig="threePt" dir="t"/>
            </a:scene3d>
          </a:bodyPr>
          <a:lstStyle/>
          <a:p>
            <a:pPr algn="ctr"/>
            <a:r>
              <a:rPr lang="en-US" sz="2800" b="1" dirty="0">
                <a:solidFill>
                  <a:srgbClr val="FFFF00"/>
                </a:solidFill>
                <a:latin typeface="Book Antiqua" panose="02040602050305030304" pitchFamily="18" charset="0"/>
              </a:rPr>
              <a:t>Department of CSE(AI and ML)</a:t>
            </a:r>
            <a:endParaRPr lang="en-IN" sz="2800" b="1" dirty="0">
              <a:solidFill>
                <a:srgbClr val="FFFF00"/>
              </a:solidFill>
              <a:latin typeface="Book Antiqua" panose="02040602050305030304" pitchFamily="18" charset="0"/>
            </a:endParaRPr>
          </a:p>
        </p:txBody>
      </p:sp>
      <p:sp>
        <p:nvSpPr>
          <p:cNvPr id="5" name="Rectangle 4">
            <a:extLst>
              <a:ext uri="{FF2B5EF4-FFF2-40B4-BE49-F238E27FC236}">
                <a16:creationId xmlns:a16="http://schemas.microsoft.com/office/drawing/2014/main" xmlns="" id="{DFF502C4-06C2-8885-6C8D-8745D48B19C7}"/>
              </a:ext>
            </a:extLst>
          </p:cNvPr>
          <p:cNvSpPr/>
          <p:nvPr/>
        </p:nvSpPr>
        <p:spPr>
          <a:xfrm>
            <a:off x="0" y="0"/>
            <a:ext cx="1012874" cy="108321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7" name="Straight Connector 6">
            <a:extLst>
              <a:ext uri="{FF2B5EF4-FFF2-40B4-BE49-F238E27FC236}">
                <a16:creationId xmlns:a16="http://schemas.microsoft.com/office/drawing/2014/main" xmlns="" id="{FFC212B1-8733-C408-6F85-63A4D571E15B}"/>
              </a:ext>
            </a:extLst>
          </p:cNvPr>
          <p:cNvCxnSpPr>
            <a:cxnSpLocks/>
          </p:cNvCxnSpPr>
          <p:nvPr/>
        </p:nvCxnSpPr>
        <p:spPr>
          <a:xfrm>
            <a:off x="1012874" y="779964"/>
            <a:ext cx="11121419" cy="0"/>
          </a:xfrm>
          <a:prstGeom prst="line">
            <a:avLst/>
          </a:prstGeom>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xmlns="" id="{21ED130E-E551-40EA-7B94-E50A3EF4E3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35" y="63304"/>
            <a:ext cx="956603" cy="956603"/>
          </a:xfrm>
          <a:prstGeom prst="rect">
            <a:avLst/>
          </a:prstGeom>
        </p:spPr>
      </p:pic>
      <p:sp>
        <p:nvSpPr>
          <p:cNvPr id="2" name="TextBox 1">
            <a:extLst>
              <a:ext uri="{FF2B5EF4-FFF2-40B4-BE49-F238E27FC236}">
                <a16:creationId xmlns:a16="http://schemas.microsoft.com/office/drawing/2014/main" xmlns="" id="{0E823E34-DF31-7796-3D47-C77423B1CAF4}"/>
              </a:ext>
            </a:extLst>
          </p:cNvPr>
          <p:cNvSpPr txBox="1"/>
          <p:nvPr/>
        </p:nvSpPr>
        <p:spPr>
          <a:xfrm>
            <a:off x="1012874" y="379854"/>
            <a:ext cx="3078405" cy="400110"/>
          </a:xfrm>
          <a:prstGeom prst="rect">
            <a:avLst/>
          </a:prstGeom>
          <a:noFill/>
        </p:spPr>
        <p:txBody>
          <a:bodyPr wrap="square" rtlCol="0">
            <a:spAutoFit/>
          </a:bodyPr>
          <a:lstStyle/>
          <a:p>
            <a:r>
              <a:rPr lang="en-US" sz="2000" b="1" dirty="0">
                <a:solidFill>
                  <a:schemeClr val="accent1">
                    <a:lumMod val="75000"/>
                  </a:schemeClr>
                </a:solidFill>
                <a:latin typeface="Times New Roman" panose="02020603050405020304" pitchFamily="18" charset="0"/>
                <a:cs typeface="Times New Roman" panose="02020603050405020304" pitchFamily="18" charset="0"/>
              </a:rPr>
              <a:t>S</a:t>
            </a:r>
            <a:r>
              <a:rPr lang="en-IN" sz="2000" b="1" dirty="0">
                <a:solidFill>
                  <a:schemeClr val="accent1">
                    <a:lumMod val="75000"/>
                  </a:schemeClr>
                </a:solidFill>
                <a:latin typeface="Times New Roman" panose="02020603050405020304" pitchFamily="18" charset="0"/>
                <a:cs typeface="Times New Roman" panose="02020603050405020304" pitchFamily="18" charset="0"/>
              </a:rPr>
              <a:t>equence Diagram</a:t>
            </a:r>
            <a:endParaRPr lang="en-US" sz="20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EB970D6B-ACDA-AF6E-AE0E-FA22CBA84A89}"/>
              </a:ext>
            </a:extLst>
          </p:cNvPr>
          <p:cNvSpPr txBox="1"/>
          <p:nvPr/>
        </p:nvSpPr>
        <p:spPr>
          <a:xfrm>
            <a:off x="6625734" y="806213"/>
            <a:ext cx="5566266"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 </a:t>
            </a:r>
            <a:endParaRPr lang="en-US" sz="1400" dirty="0">
              <a:latin typeface="Times New Roman" panose="02020603050405020304" pitchFamily="18" charset="0"/>
              <a:cs typeface="Times New Roman" panose="02020603050405020304" pitchFamily="18" charset="0"/>
            </a:endParaRPr>
          </a:p>
        </p:txBody>
      </p:sp>
      <p:sp>
        <p:nvSpPr>
          <p:cNvPr id="29" name="TextBox 28">
            <a:extLst>
              <a:ext uri="{FF2B5EF4-FFF2-40B4-BE49-F238E27FC236}">
                <a16:creationId xmlns:a16="http://schemas.microsoft.com/office/drawing/2014/main" xmlns="" id="{EC849ECC-8F9D-0447-37AE-A14975D030D2}"/>
              </a:ext>
            </a:extLst>
          </p:cNvPr>
          <p:cNvSpPr txBox="1"/>
          <p:nvPr/>
        </p:nvSpPr>
        <p:spPr>
          <a:xfrm>
            <a:off x="6673502" y="827232"/>
            <a:ext cx="5490363"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 </a:t>
            </a:r>
            <a:endParaRPr lang="en-US" sz="1400" dirty="0">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xmlns="" id="{A391A738-3539-1EF4-1A07-6372A8EA8CBC}"/>
              </a:ext>
            </a:extLst>
          </p:cNvPr>
          <p:cNvSpPr txBox="1"/>
          <p:nvPr/>
        </p:nvSpPr>
        <p:spPr>
          <a:xfrm>
            <a:off x="6596161" y="827231"/>
            <a:ext cx="5567703" cy="5970865"/>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Participants:</a:t>
            </a:r>
          </a:p>
          <a:p>
            <a:endParaRPr lang="en-US" sz="1600" b="1"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User</a:t>
            </a:r>
            <a:r>
              <a:rPr lang="en-US" sz="14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 Initiates actions such as selecting algorithms and providing inputs.</a:t>
            </a:r>
          </a:p>
          <a:p>
            <a:r>
              <a:rPr lang="en-US" sz="1400" b="1" dirty="0">
                <a:latin typeface="Times New Roman" panose="02020603050405020304" pitchFamily="18" charset="0"/>
                <a:cs typeface="Times New Roman" panose="02020603050405020304" pitchFamily="18" charset="0"/>
              </a:rPr>
              <a:t>User Interface</a:t>
            </a:r>
            <a:r>
              <a:rPr lang="en-US" sz="14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 Acts as the interaction layer between the user and backend.</a:t>
            </a:r>
          </a:p>
          <a:p>
            <a:r>
              <a:rPr lang="en-US" sz="1400" b="1" dirty="0">
                <a:latin typeface="Times New Roman" panose="02020603050405020304" pitchFamily="18" charset="0"/>
                <a:cs typeface="Times New Roman" panose="02020603050405020304" pitchFamily="18" charset="0"/>
              </a:rPr>
              <a:t>Controller</a:t>
            </a:r>
            <a:r>
              <a:rPr lang="en-US" sz="14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 Handles execution requests and controls algorithm flow.</a:t>
            </a:r>
          </a:p>
          <a:p>
            <a:r>
              <a:rPr lang="en-US" sz="1400" b="1" dirty="0">
                <a:latin typeface="Times New Roman" panose="02020603050405020304" pitchFamily="18" charset="0"/>
                <a:cs typeface="Times New Roman" panose="02020603050405020304" pitchFamily="18" charset="0"/>
              </a:rPr>
              <a:t>Algorithm Engine</a:t>
            </a:r>
            <a:r>
              <a:rPr lang="en-US" sz="14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 Executes the selected algorithm and generates steps.</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Explanation:</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User selects an algorithm via the User Interface.</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User Interface provides the algorithm options as Result to the user.</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user enters the required inputs through the User Interface.</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Controller receives the execution request and instructs the Algorithm Engine to run the algorithm.</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Algorithm Engine executes the algorithm and sends the steps back to the Controller for visualization.</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Controller forwards the visualization steps to the User Interface, which displays the visualized output to the user.</a:t>
            </a:r>
          </a:p>
          <a:p>
            <a:endParaRPr lang="en-US" sz="14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r="19626" b="24612"/>
          <a:stretch/>
        </p:blipFill>
        <p:spPr>
          <a:xfrm>
            <a:off x="1063828" y="1019907"/>
            <a:ext cx="5504197" cy="5182589"/>
          </a:xfrm>
          <a:prstGeom prst="rect">
            <a:avLst/>
          </a:prstGeom>
        </p:spPr>
      </p:pic>
    </p:spTree>
    <p:extLst>
      <p:ext uri="{BB962C8B-B14F-4D97-AF65-F5344CB8AC3E}">
        <p14:creationId xmlns:p14="http://schemas.microsoft.com/office/powerpoint/2010/main" val="3416838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6C0582A-06F9-A914-46CD-64088145907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xmlns="" id="{F0AE6910-49E6-9093-D62B-D713E8E42B26}"/>
              </a:ext>
            </a:extLst>
          </p:cNvPr>
          <p:cNvSpPr/>
          <p:nvPr/>
        </p:nvSpPr>
        <p:spPr>
          <a:xfrm>
            <a:off x="0" y="0"/>
            <a:ext cx="1012874" cy="68580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vert="vert270" wrap="square" tIns="1005840" rIns="0" bIns="91440" rtlCol="0" anchor="ctr" anchorCtr="0">
            <a:scene3d>
              <a:camera prst="orthographicFront">
                <a:rot lat="0" lon="21299999" rev="0"/>
              </a:camera>
              <a:lightRig rig="threePt" dir="t"/>
            </a:scene3d>
          </a:bodyPr>
          <a:lstStyle/>
          <a:p>
            <a:pPr algn="ctr"/>
            <a:r>
              <a:rPr lang="en-US" sz="2800" b="1" dirty="0">
                <a:solidFill>
                  <a:srgbClr val="FFFF00"/>
                </a:solidFill>
                <a:latin typeface="Book Antiqua" panose="02040602050305030304" pitchFamily="18" charset="0"/>
              </a:rPr>
              <a:t>Department of CSE(AI and ML)</a:t>
            </a:r>
            <a:endParaRPr lang="en-IN" sz="2800" b="1" dirty="0">
              <a:solidFill>
                <a:srgbClr val="FFFF00"/>
              </a:solidFill>
              <a:latin typeface="Book Antiqua" panose="02040602050305030304" pitchFamily="18" charset="0"/>
            </a:endParaRPr>
          </a:p>
        </p:txBody>
      </p:sp>
      <p:sp>
        <p:nvSpPr>
          <p:cNvPr id="5" name="Rectangle 4">
            <a:extLst>
              <a:ext uri="{FF2B5EF4-FFF2-40B4-BE49-F238E27FC236}">
                <a16:creationId xmlns:a16="http://schemas.microsoft.com/office/drawing/2014/main" xmlns="" id="{CE52CE06-402D-C631-F995-5A05273D0868}"/>
              </a:ext>
            </a:extLst>
          </p:cNvPr>
          <p:cNvSpPr/>
          <p:nvPr/>
        </p:nvSpPr>
        <p:spPr>
          <a:xfrm>
            <a:off x="0" y="0"/>
            <a:ext cx="1012874" cy="108321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7" name="Straight Connector 6">
            <a:extLst>
              <a:ext uri="{FF2B5EF4-FFF2-40B4-BE49-F238E27FC236}">
                <a16:creationId xmlns:a16="http://schemas.microsoft.com/office/drawing/2014/main" xmlns="" id="{C1254ECB-232B-91A8-31DC-54E1EE296066}"/>
              </a:ext>
            </a:extLst>
          </p:cNvPr>
          <p:cNvCxnSpPr>
            <a:cxnSpLocks/>
          </p:cNvCxnSpPr>
          <p:nvPr/>
        </p:nvCxnSpPr>
        <p:spPr>
          <a:xfrm>
            <a:off x="1070581" y="764268"/>
            <a:ext cx="11121419" cy="0"/>
          </a:xfrm>
          <a:prstGeom prst="line">
            <a:avLst/>
          </a:prstGeom>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xmlns="" id="{595B6A6B-B538-2E45-0EF1-C04BF1EA21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35" y="63304"/>
            <a:ext cx="956603" cy="956603"/>
          </a:xfrm>
          <a:prstGeom prst="rect">
            <a:avLst/>
          </a:prstGeom>
        </p:spPr>
      </p:pic>
      <p:sp>
        <p:nvSpPr>
          <p:cNvPr id="10" name="TextBox 9">
            <a:extLst>
              <a:ext uri="{FF2B5EF4-FFF2-40B4-BE49-F238E27FC236}">
                <a16:creationId xmlns:a16="http://schemas.microsoft.com/office/drawing/2014/main" xmlns="" id="{F81C65E3-4296-4425-BE82-7A27CA38F23A}"/>
              </a:ext>
            </a:extLst>
          </p:cNvPr>
          <p:cNvSpPr txBox="1"/>
          <p:nvPr/>
        </p:nvSpPr>
        <p:spPr>
          <a:xfrm>
            <a:off x="1012874" y="379854"/>
            <a:ext cx="3078405" cy="400110"/>
          </a:xfrm>
          <a:prstGeom prst="rect">
            <a:avLst/>
          </a:prstGeom>
          <a:noFill/>
        </p:spPr>
        <p:txBody>
          <a:bodyPr wrap="square" rtlCol="0">
            <a:spAutoFit/>
          </a:bodyPr>
          <a:lstStyle/>
          <a:p>
            <a:r>
              <a:rPr lang="en-US" sz="2000" b="1" dirty="0">
                <a:solidFill>
                  <a:schemeClr val="accent1">
                    <a:lumMod val="75000"/>
                  </a:schemeClr>
                </a:solidFill>
                <a:latin typeface="Times New Roman" panose="02020603050405020304" pitchFamily="18" charset="0"/>
                <a:cs typeface="Times New Roman" panose="02020603050405020304" pitchFamily="18" charset="0"/>
              </a:rPr>
              <a:t>Activity</a:t>
            </a:r>
            <a:r>
              <a:rPr lang="en-IN" sz="2000" b="1" dirty="0">
                <a:solidFill>
                  <a:schemeClr val="accent1">
                    <a:lumMod val="75000"/>
                  </a:schemeClr>
                </a:solidFill>
                <a:latin typeface="Times New Roman" panose="02020603050405020304" pitchFamily="18" charset="0"/>
                <a:cs typeface="Times New Roman" panose="02020603050405020304" pitchFamily="18" charset="0"/>
              </a:rPr>
              <a:t> Diagram</a:t>
            </a:r>
            <a:endParaRPr lang="en-US" sz="2000" b="1" dirty="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xmlns="" id="{BF011479-D6F5-FF56-9F08-691D9292B6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009" y="779964"/>
            <a:ext cx="5583288" cy="5974797"/>
          </a:xfrm>
          <a:prstGeom prst="rect">
            <a:avLst/>
          </a:prstGeom>
        </p:spPr>
      </p:pic>
      <p:sp>
        <p:nvSpPr>
          <p:cNvPr id="13" name="TextBox 12">
            <a:extLst>
              <a:ext uri="{FF2B5EF4-FFF2-40B4-BE49-F238E27FC236}">
                <a16:creationId xmlns:a16="http://schemas.microsoft.com/office/drawing/2014/main" xmlns="" id="{AC27FEC1-832B-B905-C90B-C255934B64BA}"/>
              </a:ext>
            </a:extLst>
          </p:cNvPr>
          <p:cNvSpPr txBox="1"/>
          <p:nvPr/>
        </p:nvSpPr>
        <p:spPr>
          <a:xfrm>
            <a:off x="6624297" y="1148683"/>
            <a:ext cx="5567703" cy="4739759"/>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Activity Flow Explanation:</a:t>
            </a:r>
          </a:p>
          <a:p>
            <a:endParaRPr lang="en-US" sz="16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activity starts with the user selecting an algorithm.</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user then provides the required input, which is validated before execution.</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After successful validation, the system executes the algorithm.</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algorithm’s intermediate steps are recorded for visualization purposes.</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system visualizes the execution and displays the path cost as output.</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flow ends, with an optional reset action allowing the process to restart.</a:t>
            </a:r>
          </a:p>
          <a:p>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6185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5EBD8BC-B6C6-4312-0890-F1C9E2D676F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xmlns="" id="{2E16F6CD-C12A-1168-5D80-A561D494A63F}"/>
              </a:ext>
            </a:extLst>
          </p:cNvPr>
          <p:cNvSpPr/>
          <p:nvPr/>
        </p:nvSpPr>
        <p:spPr>
          <a:xfrm>
            <a:off x="0" y="0"/>
            <a:ext cx="1012874" cy="68580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vert="vert270" wrap="square" tIns="1005840" rIns="0" bIns="91440" rtlCol="0" anchor="ctr" anchorCtr="0">
            <a:scene3d>
              <a:camera prst="orthographicFront">
                <a:rot lat="0" lon="21299999" rev="0"/>
              </a:camera>
              <a:lightRig rig="threePt" dir="t"/>
            </a:scene3d>
          </a:bodyPr>
          <a:lstStyle/>
          <a:p>
            <a:pPr algn="ctr"/>
            <a:r>
              <a:rPr lang="en-US" sz="2800" b="1" dirty="0">
                <a:solidFill>
                  <a:srgbClr val="FFFF00"/>
                </a:solidFill>
                <a:latin typeface="Book Antiqua" panose="02040602050305030304" pitchFamily="18" charset="0"/>
              </a:rPr>
              <a:t>Department of CSE(AI and ML)</a:t>
            </a:r>
            <a:endParaRPr lang="en-IN" sz="2800" b="1" dirty="0">
              <a:solidFill>
                <a:srgbClr val="FFFF00"/>
              </a:solidFill>
              <a:latin typeface="Book Antiqua" panose="02040602050305030304" pitchFamily="18" charset="0"/>
            </a:endParaRPr>
          </a:p>
        </p:txBody>
      </p:sp>
      <p:sp>
        <p:nvSpPr>
          <p:cNvPr id="5" name="Rectangle 4">
            <a:extLst>
              <a:ext uri="{FF2B5EF4-FFF2-40B4-BE49-F238E27FC236}">
                <a16:creationId xmlns:a16="http://schemas.microsoft.com/office/drawing/2014/main" xmlns="" id="{7E402332-0B52-AE9F-C85A-02504300B5B7}"/>
              </a:ext>
            </a:extLst>
          </p:cNvPr>
          <p:cNvSpPr/>
          <p:nvPr/>
        </p:nvSpPr>
        <p:spPr>
          <a:xfrm>
            <a:off x="0" y="0"/>
            <a:ext cx="1012874" cy="108321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7" name="Straight Connector 6">
            <a:extLst>
              <a:ext uri="{FF2B5EF4-FFF2-40B4-BE49-F238E27FC236}">
                <a16:creationId xmlns:a16="http://schemas.microsoft.com/office/drawing/2014/main" xmlns="" id="{5A80D5EA-F3F5-6DE5-2ED0-97B27ED0F8AB}"/>
              </a:ext>
            </a:extLst>
          </p:cNvPr>
          <p:cNvCxnSpPr>
            <a:cxnSpLocks/>
          </p:cNvCxnSpPr>
          <p:nvPr/>
        </p:nvCxnSpPr>
        <p:spPr>
          <a:xfrm>
            <a:off x="1070581" y="833094"/>
            <a:ext cx="11121419" cy="0"/>
          </a:xfrm>
          <a:prstGeom prst="line">
            <a:avLst/>
          </a:prstGeom>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xmlns="" id="{A8D3B4C7-F928-B1AD-A7D1-4C42799E77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35" y="63304"/>
            <a:ext cx="956603" cy="956603"/>
          </a:xfrm>
          <a:prstGeom prst="rect">
            <a:avLst/>
          </a:prstGeom>
        </p:spPr>
      </p:pic>
      <p:sp>
        <p:nvSpPr>
          <p:cNvPr id="3" name="TextBox 2">
            <a:extLst>
              <a:ext uri="{FF2B5EF4-FFF2-40B4-BE49-F238E27FC236}">
                <a16:creationId xmlns:a16="http://schemas.microsoft.com/office/drawing/2014/main" xmlns="" id="{ED9B90E8-DCB0-0986-6FDF-B482FFCFDADA}"/>
              </a:ext>
            </a:extLst>
          </p:cNvPr>
          <p:cNvSpPr txBox="1"/>
          <p:nvPr/>
        </p:nvSpPr>
        <p:spPr>
          <a:xfrm>
            <a:off x="1012873" y="432984"/>
            <a:ext cx="3078405" cy="400110"/>
          </a:xfrm>
          <a:prstGeom prst="rect">
            <a:avLst/>
          </a:prstGeom>
          <a:noFill/>
        </p:spPr>
        <p:txBody>
          <a:bodyPr wrap="square" rtlCol="0">
            <a:spAutoFit/>
          </a:bodyPr>
          <a:lstStyle/>
          <a:p>
            <a:r>
              <a:rPr lang="en-US" sz="2000" b="1" dirty="0">
                <a:solidFill>
                  <a:schemeClr val="accent1">
                    <a:lumMod val="75000"/>
                  </a:schemeClr>
                </a:solidFill>
                <a:latin typeface="Times New Roman" panose="02020603050405020304" pitchFamily="18" charset="0"/>
                <a:cs typeface="Times New Roman" panose="02020603050405020304" pitchFamily="18" charset="0"/>
              </a:rPr>
              <a:t>Block Diagram</a:t>
            </a:r>
          </a:p>
        </p:txBody>
      </p:sp>
      <p:pic>
        <p:nvPicPr>
          <p:cNvPr id="8" name="Picture 7">
            <a:extLst>
              <a:ext uri="{FF2B5EF4-FFF2-40B4-BE49-F238E27FC236}">
                <a16:creationId xmlns:a16="http://schemas.microsoft.com/office/drawing/2014/main" xmlns="" id="{F675E4D4-1A42-967A-B286-5D5CE2E94F29}"/>
              </a:ext>
            </a:extLst>
          </p:cNvPr>
          <p:cNvPicPr>
            <a:picLocks noChangeAspect="1"/>
          </p:cNvPicPr>
          <p:nvPr/>
        </p:nvPicPr>
        <p:blipFill>
          <a:blip r:embed="rId3">
            <a:extLst>
              <a:ext uri="{28A0092B-C50C-407E-A947-70E740481C1C}">
                <a14:useLocalDpi xmlns:a14="http://schemas.microsoft.com/office/drawing/2010/main" val="0"/>
              </a:ext>
            </a:extLst>
          </a:blip>
          <a:srcRect l="10338" t="2662" r="3340"/>
          <a:stretch>
            <a:fillRect/>
          </a:stretch>
        </p:blipFill>
        <p:spPr>
          <a:xfrm>
            <a:off x="1504335" y="1019907"/>
            <a:ext cx="10235381" cy="5405109"/>
          </a:xfrm>
          <a:prstGeom prst="rect">
            <a:avLst/>
          </a:prstGeom>
        </p:spPr>
      </p:pic>
    </p:spTree>
    <p:extLst>
      <p:ext uri="{BB962C8B-B14F-4D97-AF65-F5344CB8AC3E}">
        <p14:creationId xmlns:p14="http://schemas.microsoft.com/office/powerpoint/2010/main" val="14305446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71AD64D-FB3F-B1A1-D3CB-48E87CFB993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xmlns="" id="{2C0ADF44-7AD0-F5DB-BEED-BB9D2B072F31}"/>
              </a:ext>
            </a:extLst>
          </p:cNvPr>
          <p:cNvSpPr/>
          <p:nvPr/>
        </p:nvSpPr>
        <p:spPr>
          <a:xfrm>
            <a:off x="0" y="0"/>
            <a:ext cx="1012874" cy="68580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vert="vert270" wrap="square" tIns="1005840" rIns="0" bIns="91440" rtlCol="0" anchor="ctr" anchorCtr="0">
            <a:scene3d>
              <a:camera prst="orthographicFront">
                <a:rot lat="0" lon="21299999" rev="0"/>
              </a:camera>
              <a:lightRig rig="threePt" dir="t"/>
            </a:scene3d>
          </a:bodyPr>
          <a:lstStyle/>
          <a:p>
            <a:pPr algn="ctr"/>
            <a:r>
              <a:rPr lang="en-US" sz="2800" b="1" dirty="0">
                <a:solidFill>
                  <a:srgbClr val="FFFF00"/>
                </a:solidFill>
                <a:latin typeface="Book Antiqua" panose="02040602050305030304" pitchFamily="18" charset="0"/>
              </a:rPr>
              <a:t>Department of CSE(AI and ML)</a:t>
            </a:r>
            <a:endParaRPr lang="en-IN" sz="2800" b="1" dirty="0">
              <a:solidFill>
                <a:srgbClr val="FFFF00"/>
              </a:solidFill>
              <a:latin typeface="Book Antiqua" panose="02040602050305030304" pitchFamily="18" charset="0"/>
            </a:endParaRPr>
          </a:p>
        </p:txBody>
      </p:sp>
      <p:sp>
        <p:nvSpPr>
          <p:cNvPr id="5" name="Rectangle 4">
            <a:extLst>
              <a:ext uri="{FF2B5EF4-FFF2-40B4-BE49-F238E27FC236}">
                <a16:creationId xmlns:a16="http://schemas.microsoft.com/office/drawing/2014/main" xmlns="" id="{28C937D9-973B-91F8-7658-3C730984E9FC}"/>
              </a:ext>
            </a:extLst>
          </p:cNvPr>
          <p:cNvSpPr/>
          <p:nvPr/>
        </p:nvSpPr>
        <p:spPr>
          <a:xfrm>
            <a:off x="0" y="0"/>
            <a:ext cx="1012874" cy="108321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7" name="Straight Connector 6">
            <a:extLst>
              <a:ext uri="{FF2B5EF4-FFF2-40B4-BE49-F238E27FC236}">
                <a16:creationId xmlns:a16="http://schemas.microsoft.com/office/drawing/2014/main" xmlns="" id="{93AAEE25-5CB0-A14C-28EE-AABE2F77863C}"/>
              </a:ext>
            </a:extLst>
          </p:cNvPr>
          <p:cNvCxnSpPr>
            <a:cxnSpLocks/>
          </p:cNvCxnSpPr>
          <p:nvPr/>
        </p:nvCxnSpPr>
        <p:spPr>
          <a:xfrm>
            <a:off x="1070581" y="1083212"/>
            <a:ext cx="11121419" cy="0"/>
          </a:xfrm>
          <a:prstGeom prst="line">
            <a:avLst/>
          </a:prstGeom>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xmlns="" id="{228EA06A-8391-D431-23E7-FB4E0D3A9C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35" y="63304"/>
            <a:ext cx="956603" cy="956603"/>
          </a:xfrm>
          <a:prstGeom prst="rect">
            <a:avLst/>
          </a:prstGeom>
        </p:spPr>
      </p:pic>
      <p:sp>
        <p:nvSpPr>
          <p:cNvPr id="2" name="Rectangle 1">
            <a:extLst>
              <a:ext uri="{FF2B5EF4-FFF2-40B4-BE49-F238E27FC236}">
                <a16:creationId xmlns:a16="http://schemas.microsoft.com/office/drawing/2014/main" xmlns="" id="{CDDC489B-54B0-057E-F24C-ECC48E93E0E5}"/>
              </a:ext>
            </a:extLst>
          </p:cNvPr>
          <p:cNvSpPr/>
          <p:nvPr/>
        </p:nvSpPr>
        <p:spPr>
          <a:xfrm>
            <a:off x="2389584" y="252559"/>
            <a:ext cx="8002768" cy="504625"/>
          </a:xfrm>
          <a:prstGeom prst="rect">
            <a:avLst/>
          </a:prstGeom>
        </p:spPr>
        <p:txBody>
          <a:bodyPr wrap="none">
            <a:spAutoFit/>
          </a:bodyPr>
          <a:lstStyle/>
          <a:p>
            <a:pPr algn="ctr">
              <a:lnSpc>
                <a:spcPct val="150000"/>
              </a:lnSpc>
            </a:pPr>
            <a:r>
              <a:rPr lang="en-IN" sz="2000" b="1" dirty="0">
                <a:solidFill>
                  <a:schemeClr val="accent1">
                    <a:lumMod val="75000"/>
                  </a:schemeClr>
                </a:solidFill>
                <a:latin typeface="Times New Roman" panose="02020603050405020304" pitchFamily="18" charset="0"/>
                <a:cs typeface="Times New Roman" panose="02020603050405020304" pitchFamily="18" charset="0"/>
              </a:rPr>
              <a:t>ALGORITHM</a:t>
            </a:r>
            <a:r>
              <a:rPr lang="en-IN" sz="2000" b="1" dirty="0">
                <a:latin typeface="Times New Roman" panose="02020603050405020304" pitchFamily="18" charset="0"/>
                <a:cs typeface="Times New Roman" panose="02020603050405020304" pitchFamily="18" charset="0"/>
              </a:rPr>
              <a:t>: AlgoViz (</a:t>
            </a:r>
            <a:r>
              <a:rPr lang="en-IN" sz="2000" b="1" dirty="0"/>
              <a:t> </a:t>
            </a:r>
            <a:r>
              <a:rPr lang="en-US" sz="2000" dirty="0"/>
              <a:t>Flask-Based web-app for Teaching Algorithms </a:t>
            </a:r>
            <a:r>
              <a:rPr lang="en-US" sz="2000" b="1" dirty="0"/>
              <a:t>)</a:t>
            </a:r>
            <a:r>
              <a:rPr lang="en-IN" sz="2000" dirty="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xmlns="" id="{AA612418-E30C-F5A5-E1DF-815FBB3A14E8}"/>
              </a:ext>
            </a:extLst>
          </p:cNvPr>
          <p:cNvSpPr txBox="1"/>
          <p:nvPr/>
        </p:nvSpPr>
        <p:spPr>
          <a:xfrm>
            <a:off x="1319601" y="1230644"/>
            <a:ext cx="10451691" cy="5201424"/>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Step 1 : Application Initialization </a:t>
            </a:r>
          </a:p>
          <a:p>
            <a:pPr algn="just"/>
            <a:endParaRPr lang="en-US" sz="1600" dirty="0"/>
          </a:p>
          <a:p>
            <a:pPr algn="just"/>
            <a:r>
              <a:rPr lang="en-US" sz="1600" dirty="0">
                <a:latin typeface="Times New Roman" panose="02020603050405020304" pitchFamily="18" charset="0"/>
                <a:cs typeface="Times New Roman" panose="02020603050405020304" pitchFamily="18" charset="0"/>
              </a:rPr>
              <a:t>The system starts the ALGOVIZ application and prepares the user interface for interaction.</a:t>
            </a:r>
          </a:p>
          <a:p>
            <a:pPr algn="just"/>
            <a:endParaRPr lang="en-US" sz="1600"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Step 2 : Algorithm Selection </a:t>
            </a:r>
          </a:p>
          <a:p>
            <a:pPr algn="just"/>
            <a:endParaRPr lang="en-US" sz="1600" dirty="0"/>
          </a:p>
          <a:p>
            <a:pPr algn="just"/>
            <a:r>
              <a:rPr lang="en-US" sz="1600" dirty="0">
                <a:latin typeface="Times New Roman" panose="02020603050405020304" pitchFamily="18" charset="0"/>
                <a:cs typeface="Times New Roman" panose="02020603050405020304" pitchFamily="18" charset="0"/>
              </a:rPr>
              <a:t>The list of available algorithms is displayed, and the user selects the required algorithm. </a:t>
            </a:r>
          </a:p>
          <a:p>
            <a:pPr algn="just"/>
            <a:endParaRPr lang="en-US" sz="1600" dirty="0"/>
          </a:p>
          <a:p>
            <a:pPr algn="just"/>
            <a:r>
              <a:rPr lang="en-US" b="1" dirty="0">
                <a:latin typeface="Times New Roman" panose="02020603050405020304" pitchFamily="18" charset="0"/>
                <a:cs typeface="Times New Roman" panose="02020603050405020304" pitchFamily="18" charset="0"/>
              </a:rPr>
              <a:t>Step 3 : Input Collection </a:t>
            </a:r>
          </a:p>
          <a:p>
            <a:pPr algn="just"/>
            <a:endParaRPr lang="en-US" sz="1600" dirty="0"/>
          </a:p>
          <a:p>
            <a:pPr algn="just"/>
            <a:r>
              <a:rPr lang="en-US" sz="1600" dirty="0">
                <a:latin typeface="Times New Roman" panose="02020603050405020304" pitchFamily="18" charset="0"/>
                <a:cs typeface="Times New Roman" panose="02020603050405020304" pitchFamily="18" charset="0"/>
              </a:rPr>
              <a:t>The system prompts the user to enter the necessary input values related to the selected algorithm. </a:t>
            </a:r>
          </a:p>
          <a:p>
            <a:pPr algn="just"/>
            <a:endParaRPr lang="en-US" sz="1600" dirty="0"/>
          </a:p>
          <a:p>
            <a:pPr algn="just"/>
            <a:r>
              <a:rPr lang="en-US" b="1" dirty="0">
                <a:latin typeface="Times New Roman" panose="02020603050405020304" pitchFamily="18" charset="0"/>
                <a:cs typeface="Times New Roman" panose="02020603050405020304" pitchFamily="18" charset="0"/>
              </a:rPr>
              <a:t>Step 4 : Input Validation </a:t>
            </a:r>
          </a:p>
          <a:p>
            <a:pPr algn="just"/>
            <a:endParaRPr lang="en-US" sz="1600" dirty="0"/>
          </a:p>
          <a:p>
            <a:pPr algn="just"/>
            <a:r>
              <a:rPr lang="en-US" sz="1600" dirty="0"/>
              <a:t>The entered input is checked for correctness and completeness. If the input is invalid, an error message is displayed and the user is asked to re-enter the input.</a:t>
            </a:r>
          </a:p>
          <a:p>
            <a:pPr algn="just"/>
            <a:endParaRPr lang="en-US" sz="1600" dirty="0"/>
          </a:p>
          <a:p>
            <a:pPr algn="just"/>
            <a:r>
              <a:rPr lang="en-US" sz="1600" dirty="0"/>
              <a:t> </a:t>
            </a:r>
            <a:r>
              <a:rPr lang="en-US" b="1" dirty="0">
                <a:latin typeface="Times New Roman" panose="02020603050405020304" pitchFamily="18" charset="0"/>
                <a:cs typeface="Times New Roman" panose="02020603050405020304" pitchFamily="18" charset="0"/>
              </a:rPr>
              <a:t>Step 5 : Controller Invocation </a:t>
            </a:r>
          </a:p>
          <a:p>
            <a:pPr algn="just"/>
            <a:endParaRPr lang="en-US" sz="1600" dirty="0"/>
          </a:p>
          <a:p>
            <a:pPr algn="just"/>
            <a:r>
              <a:rPr lang="en-US" sz="1600" dirty="0"/>
              <a:t>Once the input is valid, the data is forwarded to the controller, which invokes the selected algorithm in the algorithm engine. </a:t>
            </a:r>
          </a:p>
        </p:txBody>
      </p:sp>
    </p:spTree>
    <p:extLst>
      <p:ext uri="{BB962C8B-B14F-4D97-AF65-F5344CB8AC3E}">
        <p14:creationId xmlns:p14="http://schemas.microsoft.com/office/powerpoint/2010/main" val="25100335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F420F63-3A00-5C43-1FCC-EB8578BD548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xmlns="" id="{CB36EB53-8B43-B160-F601-7A4451A77C73}"/>
              </a:ext>
            </a:extLst>
          </p:cNvPr>
          <p:cNvSpPr/>
          <p:nvPr/>
        </p:nvSpPr>
        <p:spPr>
          <a:xfrm>
            <a:off x="0" y="0"/>
            <a:ext cx="1012874" cy="68580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vert="vert270" wrap="square" tIns="1005840" rIns="0" bIns="91440" rtlCol="0" anchor="ctr" anchorCtr="0">
            <a:scene3d>
              <a:camera prst="orthographicFront">
                <a:rot lat="0" lon="21299999" rev="0"/>
              </a:camera>
              <a:lightRig rig="threePt" dir="t"/>
            </a:scene3d>
          </a:bodyPr>
          <a:lstStyle/>
          <a:p>
            <a:pPr algn="ctr"/>
            <a:r>
              <a:rPr lang="en-US" sz="2800" b="1" dirty="0">
                <a:solidFill>
                  <a:srgbClr val="FFFF00"/>
                </a:solidFill>
                <a:latin typeface="Book Antiqua" panose="02040602050305030304" pitchFamily="18" charset="0"/>
              </a:rPr>
              <a:t>Department of CSE(AI and ML)</a:t>
            </a:r>
            <a:endParaRPr lang="en-IN" sz="2800" b="1" dirty="0">
              <a:solidFill>
                <a:srgbClr val="FFFF00"/>
              </a:solidFill>
              <a:latin typeface="Book Antiqua" panose="02040602050305030304" pitchFamily="18" charset="0"/>
            </a:endParaRPr>
          </a:p>
        </p:txBody>
      </p:sp>
      <p:sp>
        <p:nvSpPr>
          <p:cNvPr id="5" name="Rectangle 4">
            <a:extLst>
              <a:ext uri="{FF2B5EF4-FFF2-40B4-BE49-F238E27FC236}">
                <a16:creationId xmlns:a16="http://schemas.microsoft.com/office/drawing/2014/main" xmlns="" id="{21E97CDA-F093-D6F1-6AE3-146761CCCF96}"/>
              </a:ext>
            </a:extLst>
          </p:cNvPr>
          <p:cNvSpPr/>
          <p:nvPr/>
        </p:nvSpPr>
        <p:spPr>
          <a:xfrm>
            <a:off x="0" y="0"/>
            <a:ext cx="1012874" cy="108321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7" name="Straight Connector 6">
            <a:extLst>
              <a:ext uri="{FF2B5EF4-FFF2-40B4-BE49-F238E27FC236}">
                <a16:creationId xmlns:a16="http://schemas.microsoft.com/office/drawing/2014/main" xmlns="" id="{9E4B1803-10BF-5937-A65B-2BB681F9DFAB}"/>
              </a:ext>
            </a:extLst>
          </p:cNvPr>
          <p:cNvCxnSpPr>
            <a:cxnSpLocks/>
          </p:cNvCxnSpPr>
          <p:nvPr/>
        </p:nvCxnSpPr>
        <p:spPr>
          <a:xfrm>
            <a:off x="1070581" y="1019907"/>
            <a:ext cx="11121419" cy="0"/>
          </a:xfrm>
          <a:prstGeom prst="line">
            <a:avLst/>
          </a:prstGeom>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xmlns="" id="{BDFA4161-E0C8-2A2F-6928-6B18F3BA8C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35" y="63304"/>
            <a:ext cx="956603" cy="956603"/>
          </a:xfrm>
          <a:prstGeom prst="rect">
            <a:avLst/>
          </a:prstGeom>
        </p:spPr>
      </p:pic>
      <p:sp>
        <p:nvSpPr>
          <p:cNvPr id="8" name="TextBox 7">
            <a:extLst>
              <a:ext uri="{FF2B5EF4-FFF2-40B4-BE49-F238E27FC236}">
                <a16:creationId xmlns:a16="http://schemas.microsoft.com/office/drawing/2014/main" xmlns="" id="{529472DF-5389-7DE6-08F6-E46D3974E182}"/>
              </a:ext>
            </a:extLst>
          </p:cNvPr>
          <p:cNvSpPr txBox="1"/>
          <p:nvPr/>
        </p:nvSpPr>
        <p:spPr>
          <a:xfrm>
            <a:off x="1405444" y="1466671"/>
            <a:ext cx="10451691" cy="4893647"/>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Step 6 : Algorithm Execution </a:t>
            </a:r>
          </a:p>
          <a:p>
            <a:pPr algn="just"/>
            <a:endParaRPr lang="en-US" sz="1600" dirty="0"/>
          </a:p>
          <a:p>
            <a:pPr algn="just"/>
            <a:r>
              <a:rPr lang="en-US" sz="1600" dirty="0">
                <a:latin typeface="Times New Roman" panose="02020603050405020304" pitchFamily="18" charset="0"/>
                <a:cs typeface="Times New Roman" panose="02020603050405020304" pitchFamily="18" charset="0"/>
              </a:rPr>
              <a:t>The algorithm is executed step-by-step, ensuring each logical operation is performed in sequence. </a:t>
            </a:r>
          </a:p>
          <a:p>
            <a:pPr algn="just"/>
            <a:endParaRPr lang="en-US" sz="1600" dirty="0"/>
          </a:p>
          <a:p>
            <a:pPr algn="just"/>
            <a:r>
              <a:rPr lang="en-US" b="1" dirty="0">
                <a:latin typeface="Times New Roman" panose="02020603050405020304" pitchFamily="18" charset="0"/>
                <a:cs typeface="Times New Roman" panose="02020603050405020304" pitchFamily="18" charset="0"/>
              </a:rPr>
              <a:t>Step 7 :  Step Recording </a:t>
            </a:r>
          </a:p>
          <a:p>
            <a:pPr algn="just"/>
            <a:endParaRPr lang="en-US" sz="1600" dirty="0"/>
          </a:p>
          <a:p>
            <a:pPr algn="just"/>
            <a:r>
              <a:rPr lang="en-US" sz="1600" dirty="0">
                <a:latin typeface="Times New Roman" panose="02020603050405020304" pitchFamily="18" charset="0"/>
                <a:cs typeface="Times New Roman" panose="02020603050405020304" pitchFamily="18" charset="0"/>
              </a:rPr>
              <a:t>All intermediate steps generated during execution are recorded for visualization purposes. </a:t>
            </a:r>
          </a:p>
          <a:p>
            <a:pPr algn="just"/>
            <a:endParaRPr lang="en-US" sz="1600" dirty="0"/>
          </a:p>
          <a:p>
            <a:pPr algn="just"/>
            <a:r>
              <a:rPr lang="en-US" b="1" dirty="0">
                <a:latin typeface="Times New Roman" panose="02020603050405020304" pitchFamily="18" charset="0"/>
                <a:cs typeface="Times New Roman" panose="02020603050405020304" pitchFamily="18" charset="0"/>
              </a:rPr>
              <a:t>Step 8 : Visualization Process </a:t>
            </a:r>
          </a:p>
          <a:p>
            <a:pPr algn="just"/>
            <a:endParaRPr lang="en-US" sz="1600" dirty="0"/>
          </a:p>
          <a:p>
            <a:pPr algn="just"/>
            <a:r>
              <a:rPr lang="en-US" sz="1600" dirty="0">
                <a:latin typeface="Times New Roman" panose="02020603050405020304" pitchFamily="18" charset="0"/>
                <a:cs typeface="Times New Roman" panose="02020603050405020304" pitchFamily="18" charset="0"/>
              </a:rPr>
              <a:t>The recorded steps are sent to the visualization module, which dynamically displays the execution flow on the user interface.</a:t>
            </a:r>
          </a:p>
          <a:p>
            <a:pPr algn="just"/>
            <a:r>
              <a:rPr lang="en-US" sz="1600" dirty="0">
                <a:latin typeface="Times New Roman" panose="02020603050405020304" pitchFamily="18" charset="0"/>
                <a:cs typeface="Times New Roman" panose="02020603050405020304" pitchFamily="18" charset="0"/>
              </a:rPr>
              <a:t> </a:t>
            </a:r>
          </a:p>
          <a:p>
            <a:pPr algn="just"/>
            <a:r>
              <a:rPr lang="en-US" b="1" dirty="0">
                <a:latin typeface="Times New Roman" panose="02020603050405020304" pitchFamily="18" charset="0"/>
                <a:cs typeface="Times New Roman" panose="02020603050405020304" pitchFamily="18" charset="0"/>
              </a:rPr>
              <a:t>Step 9 : Result Display </a:t>
            </a:r>
          </a:p>
          <a:p>
            <a:pPr algn="just"/>
            <a:endParaRPr lang="en-US" sz="1600" dirty="0"/>
          </a:p>
          <a:p>
            <a:pPr algn="just"/>
            <a:r>
              <a:rPr lang="en-US" sz="1600" dirty="0">
                <a:latin typeface="Times New Roman" panose="02020603050405020304" pitchFamily="18" charset="0"/>
                <a:cs typeface="Times New Roman" panose="02020603050405020304" pitchFamily="18" charset="0"/>
              </a:rPr>
              <a:t>The final output, such as the result, path cost, or sorted data, is displayed to the user.</a:t>
            </a:r>
            <a:r>
              <a:rPr lang="en-US" sz="1600" dirty="0"/>
              <a:t> </a:t>
            </a:r>
          </a:p>
          <a:p>
            <a:pPr algn="just"/>
            <a:endParaRPr lang="en-US" sz="1600" dirty="0"/>
          </a:p>
          <a:p>
            <a:pPr algn="just"/>
            <a:r>
              <a:rPr lang="en-US" b="1" dirty="0">
                <a:latin typeface="Times New Roman" panose="02020603050405020304" pitchFamily="18" charset="0"/>
                <a:cs typeface="Times New Roman" panose="02020603050405020304" pitchFamily="18" charset="0"/>
              </a:rPr>
              <a:t>Step 10 : Reset or Termination </a:t>
            </a:r>
          </a:p>
          <a:p>
            <a:pPr algn="just"/>
            <a:endParaRPr lang="en-US" sz="1600" dirty="0"/>
          </a:p>
          <a:p>
            <a:pPr algn="just"/>
            <a:r>
              <a:rPr lang="en-US" sz="1600" dirty="0">
                <a:latin typeface="Times New Roman" panose="02020603050405020304" pitchFamily="18" charset="0"/>
                <a:cs typeface="Times New Roman" panose="02020603050405020304" pitchFamily="18" charset="0"/>
              </a:rPr>
              <a:t>The system provides an option to reset and select another algorithm or to end the process.</a:t>
            </a:r>
          </a:p>
        </p:txBody>
      </p:sp>
      <p:sp>
        <p:nvSpPr>
          <p:cNvPr id="10" name="Rectangle 9">
            <a:extLst>
              <a:ext uri="{FF2B5EF4-FFF2-40B4-BE49-F238E27FC236}">
                <a16:creationId xmlns:a16="http://schemas.microsoft.com/office/drawing/2014/main" xmlns="" id="{0F6D4725-1ED7-DDF6-1B91-C9077888E39F}"/>
              </a:ext>
            </a:extLst>
          </p:cNvPr>
          <p:cNvSpPr/>
          <p:nvPr/>
        </p:nvSpPr>
        <p:spPr>
          <a:xfrm>
            <a:off x="2399416" y="187025"/>
            <a:ext cx="8002768" cy="504625"/>
          </a:xfrm>
          <a:prstGeom prst="rect">
            <a:avLst/>
          </a:prstGeom>
        </p:spPr>
        <p:txBody>
          <a:bodyPr wrap="none">
            <a:spAutoFit/>
          </a:bodyPr>
          <a:lstStyle/>
          <a:p>
            <a:pPr algn="ctr">
              <a:lnSpc>
                <a:spcPct val="150000"/>
              </a:lnSpc>
            </a:pPr>
            <a:r>
              <a:rPr lang="en-IN" sz="2000" b="1" dirty="0">
                <a:solidFill>
                  <a:schemeClr val="accent1">
                    <a:lumMod val="75000"/>
                  </a:schemeClr>
                </a:solidFill>
                <a:latin typeface="Times New Roman" panose="02020603050405020304" pitchFamily="18" charset="0"/>
                <a:cs typeface="Times New Roman" panose="02020603050405020304" pitchFamily="18" charset="0"/>
              </a:rPr>
              <a:t>ALGORITHM</a:t>
            </a:r>
            <a:r>
              <a:rPr lang="en-IN" sz="2000" b="1" dirty="0">
                <a:latin typeface="Times New Roman" panose="02020603050405020304" pitchFamily="18" charset="0"/>
                <a:cs typeface="Times New Roman" panose="02020603050405020304" pitchFamily="18" charset="0"/>
              </a:rPr>
              <a:t>: AlgoViz (</a:t>
            </a:r>
            <a:r>
              <a:rPr lang="en-IN" sz="2000" b="1" dirty="0"/>
              <a:t> </a:t>
            </a:r>
            <a:r>
              <a:rPr lang="en-US" sz="2000" dirty="0"/>
              <a:t>Flask-Based web-app for Teaching Algorithms </a:t>
            </a:r>
            <a:r>
              <a:rPr lang="en-US" sz="2000" b="1" dirty="0"/>
              <a:t>)</a:t>
            </a:r>
            <a:r>
              <a:rPr lang="en-IN" sz="2000" dirty="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14130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724</TotalTime>
  <Words>1552</Words>
  <Application>Microsoft Office PowerPoint</Application>
  <PresentationFormat>Widescreen</PresentationFormat>
  <Paragraphs>219</Paragraphs>
  <Slides>15</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Book Antiqua</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Trijeth</dc:creator>
  <cp:lastModifiedBy>STUDENT</cp:lastModifiedBy>
  <cp:revision>15</cp:revision>
  <cp:lastPrinted>2025-09-10T04:54:34Z</cp:lastPrinted>
  <dcterms:created xsi:type="dcterms:W3CDTF">2025-09-08T08:39:03Z</dcterms:created>
  <dcterms:modified xsi:type="dcterms:W3CDTF">2026-01-05T23:35:35Z</dcterms:modified>
</cp:coreProperties>
</file>